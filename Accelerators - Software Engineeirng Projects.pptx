
<file path=[Content_Types].xml><?xml version="1.0" encoding="utf-8"?>
<Types xmlns="http://schemas.openxmlformats.org/package/2006/content-types">
  <Default Extension="emf" ContentType="image/x-emf"/>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147470329" r:id="rId4"/>
    <p:sldId id="2147470315" r:id="rId5"/>
    <p:sldId id="2147470324" r:id="rId6"/>
    <p:sldId id="214747032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A3ED7F-65C7-4F4A-8ED5-41DF27E07192}" v="1" dt="2026-03-16T17:15:14.2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kawar, Abhijeet" userId="80e34ce6-a5cf-4d18-ac21-4f251fc17c6e" providerId="ADAL" clId="{E53FE363-3353-48A5-BB03-0C1A74FA4421}"/>
    <pc:docChg chg="modSld">
      <pc:chgData name="Mukkawar, Abhijeet" userId="80e34ce6-a5cf-4d18-ac21-4f251fc17c6e" providerId="ADAL" clId="{E53FE363-3353-48A5-BB03-0C1A74FA4421}" dt="2026-03-16T17:15:14.228" v="10"/>
      <pc:docMkLst>
        <pc:docMk/>
      </pc:docMkLst>
      <pc:sldChg chg="modSp mod">
        <pc:chgData name="Mukkawar, Abhijeet" userId="80e34ce6-a5cf-4d18-ac21-4f251fc17c6e" providerId="ADAL" clId="{E53FE363-3353-48A5-BB03-0C1A74FA4421}" dt="2026-03-12T12:34:15.581" v="9" actId="6549"/>
        <pc:sldMkLst>
          <pc:docMk/>
          <pc:sldMk cId="1788227632" sldId="2147470315"/>
        </pc:sldMkLst>
        <pc:spChg chg="mod">
          <ac:chgData name="Mukkawar, Abhijeet" userId="80e34ce6-a5cf-4d18-ac21-4f251fc17c6e" providerId="ADAL" clId="{E53FE363-3353-48A5-BB03-0C1A74FA4421}" dt="2026-03-12T12:34:15.581" v="9" actId="6549"/>
          <ac:spMkLst>
            <pc:docMk/>
            <pc:sldMk cId="1788227632" sldId="2147470315"/>
            <ac:spMk id="2" creationId="{CC4BE756-BFF2-4A7B-B931-17D1734C43F5}"/>
          </ac:spMkLst>
        </pc:spChg>
      </pc:sldChg>
      <pc:sldChg chg="modSp">
        <pc:chgData name="Mukkawar, Abhijeet" userId="80e34ce6-a5cf-4d18-ac21-4f251fc17c6e" providerId="ADAL" clId="{E53FE363-3353-48A5-BB03-0C1A74FA4421}" dt="2026-03-16T17:15:14.228" v="10"/>
        <pc:sldMkLst>
          <pc:docMk/>
          <pc:sldMk cId="4253297823" sldId="2147470328"/>
        </pc:sldMkLst>
        <pc:graphicFrameChg chg="mod">
          <ac:chgData name="Mukkawar, Abhijeet" userId="80e34ce6-a5cf-4d18-ac21-4f251fc17c6e" providerId="ADAL" clId="{E53FE363-3353-48A5-BB03-0C1A74FA4421}" dt="2026-03-16T17:15:14.228" v="10"/>
          <ac:graphicFrameMkLst>
            <pc:docMk/>
            <pc:sldMk cId="4253297823" sldId="2147470328"/>
            <ac:graphicFrameMk id="4" creationId="{FCC1F5AC-DEB1-A9F6-353B-17D0BDE73CEC}"/>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230796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545540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553491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660131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25799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80163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335302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77460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753805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262546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3/16/2026</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64726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6816-C8D8-4D33-ADC6-A0DDE3C6E31E}"/>
              </a:ext>
            </a:extLst>
          </p:cNvPr>
          <p:cNvSpPr>
            <a:spLocks noGrp="1"/>
          </p:cNvSpPr>
          <p:nvPr>
            <p:ph type="title"/>
          </p:nvPr>
        </p:nvSpPr>
        <p:spPr bwMode="invGray">
          <a:xfrm>
            <a:off x="316799" y="471916"/>
            <a:ext cx="11484000" cy="343237"/>
          </a:xfrm>
          <a:prstGeom prst="rect">
            <a:avLst/>
          </a:prstGeom>
        </p:spPr>
        <p:txBody>
          <a:bodyPr tIns="0" bIns="0" anchor="t">
            <a:spAutoFit/>
          </a:bodyPr>
          <a:lstStyle>
            <a:lvl1pPr>
              <a:lnSpc>
                <a:spcPct val="100000"/>
              </a:lnSpc>
              <a:defRPr sz="2200">
                <a:solidFill>
                  <a:srgbClr val="000000"/>
                </a:solidFill>
                <a:latin typeface="Montserrat Bold" panose="00000800000000000000"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EA2E3C4D-A53B-49B6-90E2-150065B8751E}"/>
              </a:ext>
            </a:extLst>
          </p:cNvPr>
          <p:cNvSpPr>
            <a:spLocks noGrp="1"/>
          </p:cNvSpPr>
          <p:nvPr>
            <p:ph type="body" sz="quarter" idx="10"/>
          </p:nvPr>
        </p:nvSpPr>
        <p:spPr bwMode="invGray">
          <a:xfrm>
            <a:off x="316799" y="830931"/>
            <a:ext cx="11484000" cy="369332"/>
          </a:xfrm>
          <a:prstGeom prst="rect">
            <a:avLst/>
          </a:prstGeom>
        </p:spPr>
        <p:txBody>
          <a:bodyPr>
            <a:spAutoFit/>
          </a:bodyPr>
          <a:lstStyle>
            <a:lvl1pPr marL="0" indent="0">
              <a:buNone/>
              <a:defRPr sz="1600">
                <a:solidFill>
                  <a:srgbClr val="000000"/>
                </a:solidFill>
                <a:latin typeface="Montserrat SemiBold" pitchFamily="2" charset="0"/>
              </a:defRPr>
            </a:lvl1pPr>
          </a:lstStyle>
          <a:p>
            <a:pPr lvl="0"/>
            <a:r>
              <a:rPr lang="en-US"/>
              <a:t>Click to edit Master text styles</a:t>
            </a:r>
          </a:p>
        </p:txBody>
      </p:sp>
      <p:sp>
        <p:nvSpPr>
          <p:cNvPr id="6" name="Text Placeholder 5">
            <a:extLst>
              <a:ext uri="{FF2B5EF4-FFF2-40B4-BE49-F238E27FC236}">
                <a16:creationId xmlns:a16="http://schemas.microsoft.com/office/drawing/2014/main" id="{2BAE1A89-9C65-45A4-8923-6131F16037FA}"/>
              </a:ext>
            </a:extLst>
          </p:cNvPr>
          <p:cNvSpPr>
            <a:spLocks noGrp="1"/>
          </p:cNvSpPr>
          <p:nvPr>
            <p:ph type="body" sz="quarter" idx="11"/>
          </p:nvPr>
        </p:nvSpPr>
        <p:spPr>
          <a:xfrm>
            <a:off x="316799" y="1316039"/>
            <a:ext cx="11484000" cy="4637087"/>
          </a:xfrm>
          <a:prstGeom prst="rect">
            <a:avLst/>
          </a:prstGeom>
        </p:spPr>
        <p:txBody>
          <a:bodyPr vert="horz" lIns="91440" tIns="45720" rIns="91440" bIns="45720" rtlCol="0">
            <a:noAutofit/>
          </a:bodyPr>
          <a:lstStyle>
            <a:lvl1pPr>
              <a:defRPr lang="nl-NL" dirty="0"/>
            </a:lvl1pPr>
          </a:lstStyle>
          <a:p>
            <a:pPr lvl="0"/>
            <a:r>
              <a:rPr lang="en-US"/>
              <a:t>Click to edit Master text styles</a:t>
            </a:r>
          </a:p>
        </p:txBody>
      </p:sp>
    </p:spTree>
    <p:extLst>
      <p:ext uri="{BB962C8B-B14F-4D97-AF65-F5344CB8AC3E}">
        <p14:creationId xmlns:p14="http://schemas.microsoft.com/office/powerpoint/2010/main" val="269908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3/16/2026</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32777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 id="2147483699" r:id="rId12"/>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17/06/relationships/model3d" Target="../media/model3d1.glb"/></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2.xlsx"/><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42768F-95BB-478A-ADFA-24FD8097F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ed pencils inside a pencil holder which is on top of a wood table">
            <a:extLst>
              <a:ext uri="{FF2B5EF4-FFF2-40B4-BE49-F238E27FC236}">
                <a16:creationId xmlns:a16="http://schemas.microsoft.com/office/drawing/2014/main" id="{8D69969A-913D-2AAC-CE51-E15C9AB64F59}"/>
              </a:ext>
            </a:extLst>
          </p:cNvPr>
          <p:cNvPicPr>
            <a:picLocks noChangeAspect="1"/>
          </p:cNvPicPr>
          <p:nvPr/>
        </p:nvPicPr>
        <p:blipFill rotWithShape="1">
          <a:blip r:embed="rId2"/>
          <a:srcRect t="15730"/>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13F26D5C-77E9-4A8D-95F0-1635BAD12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
            <a:ext cx="12191999" cy="4360983"/>
          </a:xfrm>
          <a:prstGeom prst="rect">
            <a:avLst/>
          </a:prstGeom>
          <a:gradFill flip="none" rotWithShape="1">
            <a:gsLst>
              <a:gs pos="3000">
                <a:srgbClr val="000000">
                  <a:alpha val="0"/>
                </a:srgbClr>
              </a:gs>
              <a:gs pos="61000">
                <a:srgbClr val="000000">
                  <a:alpha val="48000"/>
                </a:srgbClr>
              </a:gs>
              <a:gs pos="100000">
                <a:srgbClr val="000000">
                  <a:alpha val="58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9804E-3154-7826-D377-2CAA39B1FF81}"/>
              </a:ext>
            </a:extLst>
          </p:cNvPr>
          <p:cNvSpPr>
            <a:spLocks noGrp="1"/>
          </p:cNvSpPr>
          <p:nvPr>
            <p:ph type="ctrTitle"/>
          </p:nvPr>
        </p:nvSpPr>
        <p:spPr>
          <a:xfrm>
            <a:off x="548641" y="952500"/>
            <a:ext cx="7076048" cy="1535114"/>
          </a:xfrm>
        </p:spPr>
        <p:txBody>
          <a:bodyPr>
            <a:normAutofit/>
          </a:bodyPr>
          <a:lstStyle/>
          <a:p>
            <a:r>
              <a:rPr lang="en-IN" sz="3600" dirty="0">
                <a:solidFill>
                  <a:srgbClr val="FFFFFF"/>
                </a:solidFill>
              </a:rPr>
              <a:t>Accelerators in Software Engineering Project</a:t>
            </a:r>
            <a:br>
              <a:rPr lang="en-IN" sz="3600" dirty="0">
                <a:solidFill>
                  <a:srgbClr val="FFFFFF"/>
                </a:solidFill>
              </a:rPr>
            </a:br>
            <a:endParaRPr lang="en-IN" sz="3600" dirty="0">
              <a:solidFill>
                <a:srgbClr val="FFFFFF"/>
              </a:solidFill>
            </a:endParaRPr>
          </a:p>
        </p:txBody>
      </p:sp>
      <p:sp>
        <p:nvSpPr>
          <p:cNvPr id="3" name="Subtitle 2">
            <a:extLst>
              <a:ext uri="{FF2B5EF4-FFF2-40B4-BE49-F238E27FC236}">
                <a16:creationId xmlns:a16="http://schemas.microsoft.com/office/drawing/2014/main" id="{2A64FBA7-44ED-9102-9BAF-B91F3B619DE6}"/>
              </a:ext>
            </a:extLst>
          </p:cNvPr>
          <p:cNvSpPr>
            <a:spLocks noGrp="1"/>
          </p:cNvSpPr>
          <p:nvPr>
            <p:ph type="subTitle" idx="1"/>
          </p:nvPr>
        </p:nvSpPr>
        <p:spPr>
          <a:xfrm>
            <a:off x="548635" y="1994213"/>
            <a:ext cx="3429000" cy="1535107"/>
          </a:xfrm>
        </p:spPr>
        <p:txBody>
          <a:bodyPr anchor="t">
            <a:normAutofit/>
          </a:bodyPr>
          <a:lstStyle/>
          <a:p>
            <a:r>
              <a:rPr lang="en-IN" b="1" dirty="0">
                <a:solidFill>
                  <a:srgbClr val="FFFFFF"/>
                </a:solidFill>
              </a:rPr>
              <a:t>Abhijeet Mukkawar</a:t>
            </a:r>
          </a:p>
        </p:txBody>
      </p:sp>
      <p:cxnSp>
        <p:nvCxnSpPr>
          <p:cNvPr id="13" name="Straight Connector 12">
            <a:extLst>
              <a:ext uri="{FF2B5EF4-FFF2-40B4-BE49-F238E27FC236}">
                <a16:creationId xmlns:a16="http://schemas.microsoft.com/office/drawing/2014/main" id="{0632DC5A-0728-490F-8655-6B43778270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BB1F6D-CF9C-422D-9324-C46415BB9D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82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64AA-8362-00CA-E992-B08249B9F6F8}"/>
              </a:ext>
            </a:extLst>
          </p:cNvPr>
          <p:cNvSpPr>
            <a:spLocks noGrp="1"/>
          </p:cNvSpPr>
          <p:nvPr>
            <p:ph type="title"/>
          </p:nvPr>
        </p:nvSpPr>
        <p:spPr>
          <a:xfrm>
            <a:off x="548641" y="261174"/>
            <a:ext cx="11643361" cy="1077849"/>
          </a:xfrm>
        </p:spPr>
        <p:txBody>
          <a:bodyPr>
            <a:normAutofit fontScale="90000"/>
          </a:bodyPr>
          <a:lstStyle/>
          <a:p>
            <a:pPr>
              <a:lnSpc>
                <a:spcPct val="100000"/>
              </a:lnSpc>
            </a:pPr>
            <a:r>
              <a:rPr lang="en-US" sz="2700" dirty="0"/>
              <a:t>Braingile - Unlock Developer's  Feature level confidence  - &lt;Feature Name&gt;</a:t>
            </a:r>
            <a:br>
              <a:rPr lang="en-US" dirty="0"/>
            </a:br>
            <a:r>
              <a:rPr lang="en-US" sz="2200" dirty="0"/>
              <a:t>One initiative to improve developer velocity</a:t>
            </a:r>
            <a:br>
              <a:rPr lang="en-IN" dirty="0"/>
            </a:br>
            <a:endParaRPr lang="en-IN" dirty="0"/>
          </a:p>
        </p:txBody>
      </p:sp>
      <p:sp>
        <p:nvSpPr>
          <p:cNvPr id="3" name="Content Placeholder 2">
            <a:extLst>
              <a:ext uri="{FF2B5EF4-FFF2-40B4-BE49-F238E27FC236}">
                <a16:creationId xmlns:a16="http://schemas.microsoft.com/office/drawing/2014/main" id="{54B3B1DD-5FB3-75CC-82B4-11FDD85AF08A}"/>
              </a:ext>
            </a:extLst>
          </p:cNvPr>
          <p:cNvSpPr>
            <a:spLocks noGrp="1"/>
          </p:cNvSpPr>
          <p:nvPr>
            <p:ph idx="1"/>
          </p:nvPr>
        </p:nvSpPr>
        <p:spPr>
          <a:xfrm>
            <a:off x="598170" y="956604"/>
            <a:ext cx="10995660" cy="4459458"/>
          </a:xfrm>
        </p:spPr>
        <p:txBody>
          <a:bodyPr>
            <a:normAutofit fontScale="25000" lnSpcReduction="20000"/>
          </a:bodyPr>
          <a:lstStyle/>
          <a:p>
            <a:pPr marL="0" indent="0" fontAlgn="base">
              <a:buNone/>
            </a:pPr>
            <a:endParaRPr lang="en-US" sz="2000" b="1" dirty="0">
              <a:solidFill>
                <a:schemeClr val="accent1"/>
              </a:solidFill>
              <a:latin typeface="+mn-lt"/>
            </a:endParaRPr>
          </a:p>
          <a:p>
            <a:pPr marL="0" indent="0" fontAlgn="base">
              <a:buNone/>
            </a:pPr>
            <a:r>
              <a:rPr lang="en-US" sz="7200" b="1" dirty="0">
                <a:solidFill>
                  <a:schemeClr val="accent1"/>
                </a:solidFill>
                <a:latin typeface="+mn-lt"/>
              </a:rPr>
              <a:t>Background for </a:t>
            </a:r>
            <a:r>
              <a:rPr lang="en-US" sz="7200" b="1" dirty="0" err="1">
                <a:solidFill>
                  <a:schemeClr val="accent1"/>
                </a:solidFill>
                <a:latin typeface="+mn-lt"/>
              </a:rPr>
              <a:t>Braingile</a:t>
            </a:r>
            <a:r>
              <a:rPr lang="en-US" sz="7200" b="1" dirty="0">
                <a:solidFill>
                  <a:schemeClr val="accent1"/>
                </a:solidFill>
                <a:latin typeface="+mn-lt"/>
              </a:rPr>
              <a:t> (Brain + Agile)</a:t>
            </a:r>
          </a:p>
          <a:p>
            <a:r>
              <a:rPr lang="en-US" sz="5200" dirty="0"/>
              <a:t>While working on a feature, the development team often needs to consider a wide range of aspects such as ecosystem dependencies, interface designs, APIs and their enablement, documentation, architecture, translations, virtualization, Figma references, UI changes, and much more.</a:t>
            </a:r>
            <a:br>
              <a:rPr lang="en-US" sz="5200" dirty="0"/>
            </a:br>
            <a:r>
              <a:rPr lang="en-US" sz="5200" dirty="0"/>
              <a:t>However, it was frequently observed that some of these elements were overlooked during planning. As a result, teams encountered multiple impediments during sprint execution, leading to delays in delivery.</a:t>
            </a:r>
          </a:p>
          <a:p>
            <a:r>
              <a:rPr lang="en-US" sz="5200" dirty="0"/>
              <a:t>To address this challenge, the idea of </a:t>
            </a:r>
            <a:r>
              <a:rPr lang="en-US" sz="5200" dirty="0" err="1"/>
              <a:t>Braingile</a:t>
            </a:r>
            <a:r>
              <a:rPr lang="en-US" sz="5200" dirty="0"/>
              <a:t> was born — a brainstorming and gamification-driven checklist approach. At the start of a project, the entire team comes together to brainstorm and identify all possible connecting dots. Throughout each development phase, members who proactively identify potential dependencies, risks, or requirements early are rewarded with credits.</a:t>
            </a:r>
            <a:br>
              <a:rPr lang="en-US" sz="5200" dirty="0"/>
            </a:br>
            <a:r>
              <a:rPr lang="en-US" sz="5200" dirty="0"/>
              <a:t>At the end of the cycle, the Champion Team and Champion Members are recognized based on their contributions.</a:t>
            </a:r>
          </a:p>
          <a:p>
            <a:pPr marL="0" indent="0" fontAlgn="base">
              <a:buNone/>
            </a:pPr>
            <a:r>
              <a:rPr lang="en-US" sz="7200" b="1" dirty="0">
                <a:solidFill>
                  <a:schemeClr val="accent1"/>
                </a:solidFill>
                <a:latin typeface="Calibri" panose="020F0502020204030204" pitchFamily="34" charset="0"/>
                <a:ea typeface="Calibri" panose="020F0502020204030204" pitchFamily="34" charset="0"/>
              </a:rPr>
              <a:t>B</a:t>
            </a:r>
            <a:r>
              <a:rPr lang="en-US" sz="7200" b="1" dirty="0">
                <a:solidFill>
                  <a:schemeClr val="accent1"/>
                </a:solidFill>
                <a:effectLst/>
                <a:latin typeface="Calibri" panose="020F0502020204030204" pitchFamily="34" charset="0"/>
                <a:ea typeface="Calibri" panose="020F0502020204030204" pitchFamily="34" charset="0"/>
              </a:rPr>
              <a:t>enefits –</a:t>
            </a:r>
          </a:p>
          <a:p>
            <a:pPr marL="0" indent="0" fontAlgn="base">
              <a:buNone/>
            </a:pPr>
            <a:endParaRPr lang="en-IN" sz="7200" b="1" dirty="0">
              <a:solidFill>
                <a:schemeClr val="accent1"/>
              </a:solidFill>
              <a:effectLst/>
              <a:latin typeface="Calibri" panose="020F0502020204030204" pitchFamily="34" charset="0"/>
              <a:ea typeface="Calibri" panose="020F0502020204030204" pitchFamily="34" charset="0"/>
            </a:endParaRPr>
          </a:p>
          <a:p>
            <a:endParaRPr lang="en-IN" sz="8000" dirty="0"/>
          </a:p>
          <a:p>
            <a:endParaRPr lang="en-IN" sz="8000" dirty="0"/>
          </a:p>
          <a:p>
            <a:endParaRPr lang="en-IN" sz="8000" dirty="0"/>
          </a:p>
          <a:p>
            <a:r>
              <a:rPr lang="en-IN" sz="8000" dirty="0"/>
              <a:t>Refer attachment - </a:t>
            </a:r>
            <a:r>
              <a:rPr lang="en-US" sz="8000" dirty="0">
                <a:highlight>
                  <a:srgbClr val="FFFF00"/>
                </a:highlight>
              </a:rPr>
              <a:t>Braingile- Unlock Developer's  Feature level confidence</a:t>
            </a:r>
            <a:endParaRPr lang="en-IN" sz="8000" dirty="0">
              <a:highlight>
                <a:srgbClr val="FFFF00"/>
              </a:highlight>
            </a:endParaRPr>
          </a:p>
        </p:txBody>
      </p:sp>
      <p:graphicFrame>
        <p:nvGraphicFramePr>
          <p:cNvPr id="5" name="Object 4">
            <a:extLst>
              <a:ext uri="{FF2B5EF4-FFF2-40B4-BE49-F238E27FC236}">
                <a16:creationId xmlns:a16="http://schemas.microsoft.com/office/drawing/2014/main" id="{D5C39D6B-D531-CAB3-1757-3EC747E20811}"/>
              </a:ext>
            </a:extLst>
          </p:cNvPr>
          <p:cNvGraphicFramePr>
            <a:graphicFrameLocks noChangeAspect="1"/>
          </p:cNvGraphicFramePr>
          <p:nvPr>
            <p:extLst>
              <p:ext uri="{D42A27DB-BD31-4B8C-83A1-F6EECF244321}">
                <p14:modId xmlns:p14="http://schemas.microsoft.com/office/powerpoint/2010/main" val="2436138389"/>
              </p:ext>
            </p:extLst>
          </p:nvPr>
        </p:nvGraphicFramePr>
        <p:xfrm>
          <a:off x="9217266" y="5416062"/>
          <a:ext cx="1462926" cy="1290219"/>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5" name="Object 4">
                        <a:extLst>
                          <a:ext uri="{FF2B5EF4-FFF2-40B4-BE49-F238E27FC236}">
                            <a16:creationId xmlns:a16="http://schemas.microsoft.com/office/drawing/2014/main" id="{D5C39D6B-D531-CAB3-1757-3EC747E20811}"/>
                          </a:ext>
                        </a:extLst>
                      </p:cNvPr>
                      <p:cNvPicPr/>
                      <p:nvPr/>
                    </p:nvPicPr>
                    <p:blipFill>
                      <a:blip r:embed="rId3"/>
                      <a:stretch>
                        <a:fillRect/>
                      </a:stretch>
                    </p:blipFill>
                    <p:spPr>
                      <a:xfrm>
                        <a:off x="9217266" y="5416062"/>
                        <a:ext cx="1462926" cy="1290219"/>
                      </a:xfrm>
                      <a:prstGeom prst="rect">
                        <a:avLst/>
                      </a:prstGeom>
                    </p:spPr>
                  </p:pic>
                </p:oleObj>
              </mc:Fallback>
            </mc:AlternateContent>
          </a:graphicData>
        </a:graphic>
      </p:graphicFrame>
      <p:sp>
        <p:nvSpPr>
          <p:cNvPr id="20" name="Rectangle 15">
            <a:extLst>
              <a:ext uri="{FF2B5EF4-FFF2-40B4-BE49-F238E27FC236}">
                <a16:creationId xmlns:a16="http://schemas.microsoft.com/office/drawing/2014/main" id="{1963F433-E6EF-BF8E-FA01-368A0640333D}"/>
              </a:ext>
            </a:extLst>
          </p:cNvPr>
          <p:cNvSpPr>
            <a:spLocks noChangeArrowheads="1"/>
          </p:cNvSpPr>
          <p:nvPr/>
        </p:nvSpPr>
        <p:spPr bwMode="auto">
          <a:xfrm>
            <a:off x="598170" y="3954851"/>
            <a:ext cx="921919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Early identification of issues significantly reduces impediments during sprint execution.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Detecting and resolving challenges earlier contributes to smoother and faster delivery.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The gamified approach enhances engagement and introduces an element of fun into the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Expected improvement in </a:t>
            </a:r>
            <a:r>
              <a:rPr kumimoji="0" lang="en-US" altLang="en-US" sz="1300" b="1" i="0" u="none" strike="noStrike" cap="none" normalizeH="0" baseline="0" dirty="0">
                <a:ln>
                  <a:noFill/>
                </a:ln>
                <a:solidFill>
                  <a:schemeClr val="tx1"/>
                </a:solidFill>
                <a:effectLst/>
              </a:rPr>
              <a:t>developer velocity by 30–40% or more</a:t>
            </a:r>
            <a:r>
              <a:rPr kumimoji="0" lang="en-US" altLang="en-US" sz="13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Encourages collaboration and promotes discussions around feature-level details across all stages of the Agile lifecycle.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rPr>
              <a:t>     Creates a healthy sense of competition while preserving team spirit — ultimately improving overall project efficiency.</a:t>
            </a:r>
          </a:p>
        </p:txBody>
      </p:sp>
    </p:spTree>
    <p:extLst>
      <p:ext uri="{BB962C8B-B14F-4D97-AF65-F5344CB8AC3E}">
        <p14:creationId xmlns:p14="http://schemas.microsoft.com/office/powerpoint/2010/main" val="223034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6817-DD63-72EA-0AB9-C03F094B0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89F88-084E-34D7-3043-0F04379452D2}"/>
              </a:ext>
            </a:extLst>
          </p:cNvPr>
          <p:cNvSpPr>
            <a:spLocks noGrp="1"/>
          </p:cNvSpPr>
          <p:nvPr>
            <p:ph type="title"/>
          </p:nvPr>
        </p:nvSpPr>
        <p:spPr>
          <a:xfrm>
            <a:off x="548639" y="87438"/>
            <a:ext cx="11643361" cy="1077849"/>
          </a:xfrm>
        </p:spPr>
        <p:txBody>
          <a:bodyPr>
            <a:normAutofit fontScale="90000"/>
          </a:bodyPr>
          <a:lstStyle/>
          <a:p>
            <a:pPr>
              <a:lnSpc>
                <a:spcPct val="100000"/>
              </a:lnSpc>
            </a:pPr>
            <a:r>
              <a:rPr lang="en-IN" dirty="0"/>
              <a:t>Effective Scrum Tracking</a:t>
            </a:r>
            <a:br>
              <a:rPr lang="en-IN" dirty="0"/>
            </a:br>
            <a:endParaRPr lang="en-IN" dirty="0"/>
          </a:p>
        </p:txBody>
      </p:sp>
      <p:sp>
        <p:nvSpPr>
          <p:cNvPr id="3" name="Content Placeholder 2">
            <a:extLst>
              <a:ext uri="{FF2B5EF4-FFF2-40B4-BE49-F238E27FC236}">
                <a16:creationId xmlns:a16="http://schemas.microsoft.com/office/drawing/2014/main" id="{C9B99786-0C5A-A363-9302-6455958F5256}"/>
              </a:ext>
            </a:extLst>
          </p:cNvPr>
          <p:cNvSpPr>
            <a:spLocks noGrp="1"/>
          </p:cNvSpPr>
          <p:nvPr>
            <p:ph idx="1"/>
          </p:nvPr>
        </p:nvSpPr>
        <p:spPr>
          <a:xfrm>
            <a:off x="548639" y="938316"/>
            <a:ext cx="10995660" cy="4459458"/>
          </a:xfrm>
        </p:spPr>
        <p:txBody>
          <a:bodyPr>
            <a:normAutofit fontScale="70000" lnSpcReduction="20000"/>
          </a:bodyPr>
          <a:lstStyle/>
          <a:p>
            <a:pPr marL="0" indent="0" fontAlgn="base">
              <a:buNone/>
            </a:pPr>
            <a:r>
              <a:rPr lang="en-US" sz="2700" b="1" dirty="0">
                <a:solidFill>
                  <a:schemeClr val="accent1"/>
                </a:solidFill>
              </a:rPr>
              <a:t>Background for Scrum Tracking </a:t>
            </a:r>
          </a:p>
          <a:p>
            <a:pPr marL="0" indent="0" fontAlgn="base">
              <a:buNone/>
            </a:pPr>
            <a:r>
              <a:rPr lang="en-US" dirty="0"/>
              <a:t>While working on Agile Scrum projects, we often need to check in with the engineering team multiple times a day, gather feedback, and report updates to both internal and external stakeholders. I’ve noticed that information tends to get scattered across different sources, which can make it challenging to maintain control and visibility. To address this, I’ve developed a tracking tool designed to simplify a Scrum Master’s workflow and ensure a consistent experience across the Agile Release Train.</a:t>
            </a:r>
          </a:p>
          <a:p>
            <a:pPr marL="0" indent="0" fontAlgn="base">
              <a:buNone/>
            </a:pPr>
            <a:r>
              <a:rPr lang="en-US" sz="2700" b="1" dirty="0">
                <a:solidFill>
                  <a:schemeClr val="accent1"/>
                </a:solidFill>
              </a:rPr>
              <a:t>Benefits -</a:t>
            </a:r>
          </a:p>
          <a:p>
            <a:r>
              <a:rPr lang="en-US" dirty="0"/>
              <a:t>Improved control and accuracy in reporting for Scrum Masters</a:t>
            </a:r>
          </a:p>
          <a:p>
            <a:r>
              <a:rPr lang="en-US" dirty="0"/>
              <a:t>Easy access to historical data for reference and analysis</a:t>
            </a:r>
          </a:p>
          <a:p>
            <a:r>
              <a:rPr lang="en-US" dirty="0"/>
              <a:t>Consistent experience across the Agile Release Train</a:t>
            </a:r>
          </a:p>
          <a:p>
            <a:r>
              <a:rPr lang="en-US" dirty="0"/>
              <a:t>Enhanced milestone tracking and progress visibility</a:t>
            </a:r>
          </a:p>
          <a:p>
            <a:pPr marL="0" indent="0" fontAlgn="base">
              <a:buNone/>
            </a:pPr>
            <a:endParaRPr lang="en-IN" sz="3600" dirty="0"/>
          </a:p>
          <a:p>
            <a:pPr marL="0" indent="0" fontAlgn="base">
              <a:buNone/>
            </a:pPr>
            <a:r>
              <a:rPr lang="en-IN" sz="2900" dirty="0"/>
              <a:t>Refer attachment – </a:t>
            </a:r>
            <a:r>
              <a:rPr lang="en-IN" sz="2900" dirty="0">
                <a:highlight>
                  <a:srgbClr val="FFFF00"/>
                </a:highlight>
              </a:rPr>
              <a:t>Scrum Tracking</a:t>
            </a:r>
          </a:p>
          <a:p>
            <a:pPr marL="457200" indent="-457200" fontAlgn="base">
              <a:buAutoNum type="arabicPeriod"/>
            </a:pPr>
            <a:endParaRPr lang="en-IN" sz="3600" b="1" dirty="0">
              <a:solidFill>
                <a:schemeClr val="accent1"/>
              </a:solidFill>
            </a:endParaRPr>
          </a:p>
          <a:p>
            <a:pPr marL="0" indent="0" fontAlgn="base">
              <a:buNone/>
            </a:pPr>
            <a:endParaRPr lang="en-US" sz="1900" b="1" dirty="0">
              <a:solidFill>
                <a:schemeClr val="accent1"/>
              </a:solidFill>
              <a:latin typeface="+mn-lt"/>
            </a:endParaRPr>
          </a:p>
        </p:txBody>
      </p:sp>
      <p:graphicFrame>
        <p:nvGraphicFramePr>
          <p:cNvPr id="4" name="Object 3">
            <a:extLst>
              <a:ext uri="{FF2B5EF4-FFF2-40B4-BE49-F238E27FC236}">
                <a16:creationId xmlns:a16="http://schemas.microsoft.com/office/drawing/2014/main" id="{754F8E1C-C66E-AEB6-2C67-A0F2703C5D29}"/>
              </a:ext>
            </a:extLst>
          </p:cNvPr>
          <p:cNvGraphicFramePr>
            <a:graphicFrameLocks noChangeAspect="1"/>
          </p:cNvGraphicFramePr>
          <p:nvPr>
            <p:extLst>
              <p:ext uri="{D42A27DB-BD31-4B8C-83A1-F6EECF244321}">
                <p14:modId xmlns:p14="http://schemas.microsoft.com/office/powerpoint/2010/main" val="1700964917"/>
              </p:ext>
            </p:extLst>
          </p:nvPr>
        </p:nvGraphicFramePr>
        <p:xfrm>
          <a:off x="4751832" y="4459795"/>
          <a:ext cx="1438656" cy="1268815"/>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4" name="Object 3">
                        <a:extLst>
                          <a:ext uri="{FF2B5EF4-FFF2-40B4-BE49-F238E27FC236}">
                            <a16:creationId xmlns:a16="http://schemas.microsoft.com/office/drawing/2014/main" id="{754F8E1C-C66E-AEB6-2C67-A0F2703C5D29}"/>
                          </a:ext>
                        </a:extLst>
                      </p:cNvPr>
                      <p:cNvPicPr/>
                      <p:nvPr/>
                    </p:nvPicPr>
                    <p:blipFill>
                      <a:blip r:embed="rId3"/>
                      <a:stretch>
                        <a:fillRect/>
                      </a:stretch>
                    </p:blipFill>
                    <p:spPr>
                      <a:xfrm>
                        <a:off x="4751832" y="4459795"/>
                        <a:ext cx="1438656" cy="1268815"/>
                      </a:xfrm>
                      <a:prstGeom prst="rect">
                        <a:avLst/>
                      </a:prstGeom>
                    </p:spPr>
                  </p:pic>
                </p:oleObj>
              </mc:Fallback>
            </mc:AlternateContent>
          </a:graphicData>
        </a:graphic>
      </p:graphicFrame>
    </p:spTree>
    <p:extLst>
      <p:ext uri="{BB962C8B-B14F-4D97-AF65-F5344CB8AC3E}">
        <p14:creationId xmlns:p14="http://schemas.microsoft.com/office/powerpoint/2010/main" val="34629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E756-BFF2-4A7B-B931-17D1734C43F5}"/>
              </a:ext>
            </a:extLst>
          </p:cNvPr>
          <p:cNvSpPr>
            <a:spLocks noGrp="1"/>
          </p:cNvSpPr>
          <p:nvPr>
            <p:ph type="title"/>
          </p:nvPr>
        </p:nvSpPr>
        <p:spPr>
          <a:xfrm>
            <a:off x="354000" y="324784"/>
            <a:ext cx="11484000" cy="343237"/>
          </a:xfrm>
        </p:spPr>
        <p:txBody>
          <a:bodyPr>
            <a:normAutofit fontScale="90000"/>
          </a:bodyPr>
          <a:lstStyle/>
          <a:p>
            <a:r>
              <a:rPr lang="nl-NL" dirty="0">
                <a:latin typeface="Montserrat Bold"/>
              </a:rPr>
              <a:t>   </a:t>
            </a:r>
            <a:r>
              <a:rPr lang="nl-NL" sz="2400" dirty="0">
                <a:solidFill>
                  <a:schemeClr val="accent1"/>
                </a:solidFill>
                <a:latin typeface="+mj-lt"/>
              </a:rPr>
              <a:t>Accelerating the Mentorship Program</a:t>
            </a:r>
          </a:p>
        </p:txBody>
      </p:sp>
      <p:sp>
        <p:nvSpPr>
          <p:cNvPr id="3" name="Text Placeholder 2">
            <a:extLst>
              <a:ext uri="{FF2B5EF4-FFF2-40B4-BE49-F238E27FC236}">
                <a16:creationId xmlns:a16="http://schemas.microsoft.com/office/drawing/2014/main" id="{3A5B84D8-000F-4785-B3AC-33FC55F68DF3}"/>
              </a:ext>
            </a:extLst>
          </p:cNvPr>
          <p:cNvSpPr>
            <a:spLocks noGrp="1"/>
          </p:cNvSpPr>
          <p:nvPr>
            <p:ph type="body" sz="quarter" idx="10"/>
          </p:nvPr>
        </p:nvSpPr>
        <p:spPr>
          <a:xfrm>
            <a:off x="354003" y="736369"/>
            <a:ext cx="8299671" cy="508496"/>
          </a:xfrm>
        </p:spPr>
        <p:txBody>
          <a:bodyPr vert="horz" lIns="121920" tIns="60960" rIns="121920" bIns="60960" rtlCol="0" anchor="t">
            <a:noAutofit/>
          </a:bodyPr>
          <a:lstStyle/>
          <a:p>
            <a:r>
              <a:rPr lang="en-US" sz="1400" i="1">
                <a:latin typeface="Montserrat Bold"/>
                <a:ea typeface="+mj-ea"/>
                <a:cs typeface="+mj-cs"/>
              </a:rPr>
              <a:t>Idea of having quiz is not to judge mentee like how they are, but to understand </a:t>
            </a:r>
            <a:endParaRPr lang="en-US" sz="1400" i="1">
              <a:latin typeface="Montserrat Bold" panose="00000800000000000000" pitchFamily="2" charset="0"/>
              <a:ea typeface="+mj-ea"/>
              <a:cs typeface="+mj-cs"/>
            </a:endParaRPr>
          </a:p>
          <a:p>
            <a:r>
              <a:rPr lang="en-US" sz="1400" i="1">
                <a:latin typeface="Montserrat Bold"/>
                <a:ea typeface="+mj-ea"/>
                <a:cs typeface="+mj-cs"/>
              </a:rPr>
              <a:t>where they are, so mentors can fill their knowledge gap accordingly and empower them</a:t>
            </a:r>
            <a:endParaRPr lang="nl-NL" sz="1400" i="1">
              <a:latin typeface="Montserrat Bold"/>
              <a:ea typeface="+mj-ea"/>
              <a:cs typeface="+mj-cs"/>
            </a:endParaRPr>
          </a:p>
        </p:txBody>
      </p:sp>
      <p:sp>
        <p:nvSpPr>
          <p:cNvPr id="6" name="Rectangle: Rounded Corners 5">
            <a:extLst>
              <a:ext uri="{FF2B5EF4-FFF2-40B4-BE49-F238E27FC236}">
                <a16:creationId xmlns:a16="http://schemas.microsoft.com/office/drawing/2014/main" id="{ECDADE0B-EC86-4286-B51F-A65B6F27471F}"/>
              </a:ext>
            </a:extLst>
          </p:cNvPr>
          <p:cNvSpPr/>
          <p:nvPr/>
        </p:nvSpPr>
        <p:spPr>
          <a:xfrm>
            <a:off x="1619841" y="1495309"/>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8" name="Graphic 7">
            <a:extLst>
              <a:ext uri="{FF2B5EF4-FFF2-40B4-BE49-F238E27FC236}">
                <a16:creationId xmlns:a16="http://schemas.microsoft.com/office/drawing/2014/main" id="{A31042D4-1791-4870-A8F6-C7677AC1C89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625" y="1692781"/>
            <a:ext cx="602227" cy="602227"/>
          </a:xfrm>
          <a:prstGeom prst="rect">
            <a:avLst/>
          </a:prstGeom>
        </p:spPr>
      </p:pic>
      <p:sp>
        <p:nvSpPr>
          <p:cNvPr id="9" name="Rectangle: Rounded Corners 8">
            <a:extLst>
              <a:ext uri="{FF2B5EF4-FFF2-40B4-BE49-F238E27FC236}">
                <a16:creationId xmlns:a16="http://schemas.microsoft.com/office/drawing/2014/main" id="{B779DB8A-3C88-450B-8C80-FE6C77D34352}"/>
              </a:ext>
            </a:extLst>
          </p:cNvPr>
          <p:cNvSpPr/>
          <p:nvPr/>
        </p:nvSpPr>
        <p:spPr>
          <a:xfrm>
            <a:off x="3564338" y="1511000"/>
            <a:ext cx="85323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r>
              <a:rPr lang="en-US" sz="1400" dirty="0">
                <a:solidFill>
                  <a:schemeClr val="tx1"/>
                </a:solidFill>
              </a:rPr>
              <a:t>A] Our Mentors have carefully crafted a quiz (with 30-40 questions) on </a:t>
            </a:r>
            <a:r>
              <a:rPr lang="en-US" sz="1400" dirty="0">
                <a:solidFill>
                  <a:schemeClr val="accent1"/>
                </a:solidFill>
              </a:rPr>
              <a:t>basic technical          </a:t>
            </a:r>
            <a:endParaRPr lang="en-US" sz="2400" dirty="0">
              <a:solidFill>
                <a:schemeClr val="accent1"/>
              </a:solidFill>
            </a:endParaRPr>
          </a:p>
          <a:p>
            <a:r>
              <a:rPr lang="en-US" sz="1400" dirty="0">
                <a:solidFill>
                  <a:schemeClr val="accent1"/>
                </a:solidFill>
              </a:rPr>
              <a:t>      iOS  And  Android</a:t>
            </a:r>
            <a:r>
              <a:rPr lang="en-US" sz="1400" dirty="0">
                <a:solidFill>
                  <a:schemeClr val="tx1"/>
                </a:solidFill>
              </a:rPr>
              <a:t> - often, questions are from day-to-day dev tasks or story development. </a:t>
            </a:r>
            <a:endParaRPr lang="en-US" sz="2400" dirty="0">
              <a:solidFill>
                <a:schemeClr val="tx1"/>
              </a:solidFill>
            </a:endParaRPr>
          </a:p>
          <a:p>
            <a:r>
              <a:rPr lang="en-US" sz="1400" dirty="0">
                <a:solidFill>
                  <a:schemeClr val="tx1"/>
                </a:solidFill>
              </a:rPr>
              <a:t>B] We administered an </a:t>
            </a:r>
            <a:r>
              <a:rPr lang="en-US" sz="1400" dirty="0">
                <a:solidFill>
                  <a:schemeClr val="accent1"/>
                </a:solidFill>
              </a:rPr>
              <a:t>hour-long test </a:t>
            </a:r>
            <a:r>
              <a:rPr lang="en-US" sz="1400" dirty="0">
                <a:solidFill>
                  <a:schemeClr val="tx1"/>
                </a:solidFill>
              </a:rPr>
              <a:t>to assess their current knowledge. </a:t>
            </a:r>
          </a:p>
          <a:p>
            <a:r>
              <a:rPr lang="en-US" sz="1400" dirty="0">
                <a:solidFill>
                  <a:schemeClr val="tx1"/>
                </a:solidFill>
              </a:rPr>
              <a:t>C] Post  test, a </a:t>
            </a:r>
            <a:r>
              <a:rPr lang="en-US" sz="1400" dirty="0">
                <a:solidFill>
                  <a:schemeClr val="accent1"/>
                </a:solidFill>
              </a:rPr>
              <a:t>one-on-one mentoring session </a:t>
            </a:r>
            <a:r>
              <a:rPr lang="en-US" sz="1400" dirty="0">
                <a:solidFill>
                  <a:schemeClr val="tx1"/>
                </a:solidFill>
              </a:rPr>
              <a:t>was organized to fill knowledge gaps.</a:t>
            </a:r>
            <a:r>
              <a:rPr lang="en-IN" sz="1400" dirty="0">
                <a:solidFill>
                  <a:schemeClr val="tx1"/>
                </a:solidFill>
              </a:rPr>
              <a:t>.  </a:t>
            </a:r>
          </a:p>
        </p:txBody>
      </p:sp>
      <p:sp>
        <p:nvSpPr>
          <p:cNvPr id="19" name="Text Placeholder 4">
            <a:extLst>
              <a:ext uri="{FF2B5EF4-FFF2-40B4-BE49-F238E27FC236}">
                <a16:creationId xmlns:a16="http://schemas.microsoft.com/office/drawing/2014/main" id="{7194CAA3-C5F0-440F-895D-AE00C806AD3F}"/>
              </a:ext>
            </a:extLst>
          </p:cNvPr>
          <p:cNvSpPr txBox="1">
            <a:spLocks/>
          </p:cNvSpPr>
          <p:nvPr/>
        </p:nvSpPr>
        <p:spPr bwMode="invGray">
          <a:xfrm>
            <a:off x="1682523" y="1558816"/>
            <a:ext cx="1639552" cy="870155"/>
          </a:xfrm>
          <a:prstGeom prst="rect">
            <a:avLst/>
          </a:prstGeom>
        </p:spPr>
        <p:txBody>
          <a:bodyPr lIns="121920" tIns="60960" rIns="121920" bIns="6096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dirty="0">
                <a:solidFill>
                  <a:srgbClr val="2D2D2D"/>
                </a:solidFill>
              </a:rPr>
              <a:t>Focus </a:t>
            </a:r>
            <a:r>
              <a:rPr lang="en-US" dirty="0">
                <a:solidFill>
                  <a:srgbClr val="2D2D2D"/>
                </a:solidFill>
              </a:rPr>
              <a:t>Quiz </a:t>
            </a:r>
            <a:r>
              <a:rPr lang="en-NL" dirty="0">
                <a:solidFill>
                  <a:srgbClr val="2D2D2D"/>
                </a:solidFill>
              </a:rPr>
              <a:t>#1</a:t>
            </a:r>
            <a:r>
              <a:rPr lang="en-US" dirty="0">
                <a:solidFill>
                  <a:srgbClr val="2D2D2D"/>
                </a:solidFill>
              </a:rPr>
              <a:t> </a:t>
            </a:r>
          </a:p>
          <a:p>
            <a:pPr algn="l"/>
            <a:r>
              <a:rPr lang="en-US" dirty="0">
                <a:solidFill>
                  <a:srgbClr val="2D2D2D"/>
                </a:solidFill>
                <a:latin typeface="Montserrat SemiBold"/>
              </a:rPr>
              <a:t>Basic  Platform     Technical </a:t>
            </a:r>
            <a:endParaRPr lang="en-US" dirty="0">
              <a:solidFill>
                <a:srgbClr val="2D2D2D"/>
              </a:solidFill>
            </a:endParaRPr>
          </a:p>
        </p:txBody>
      </p:sp>
      <p:sp>
        <p:nvSpPr>
          <p:cNvPr id="21" name="Text Placeholder 4">
            <a:extLst>
              <a:ext uri="{FF2B5EF4-FFF2-40B4-BE49-F238E27FC236}">
                <a16:creationId xmlns:a16="http://schemas.microsoft.com/office/drawing/2014/main" id="{C0B62B91-12A1-47F6-A7BB-702612BABD1F}"/>
              </a:ext>
            </a:extLst>
          </p:cNvPr>
          <p:cNvSpPr txBox="1">
            <a:spLocks/>
          </p:cNvSpPr>
          <p:nvPr/>
        </p:nvSpPr>
        <p:spPr bwMode="invGray">
          <a:xfrm>
            <a:off x="3559256" y="1538706"/>
            <a:ext cx="8173089" cy="910377"/>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200">
              <a:solidFill>
                <a:srgbClr val="2D2D2D"/>
              </a:solidFill>
              <a:latin typeface="Montserrat" panose="00000500000000000000" pitchFamily="2" charset="0"/>
            </a:endParaRPr>
          </a:p>
        </p:txBody>
      </p:sp>
      <p:sp>
        <p:nvSpPr>
          <p:cNvPr id="22" name="Rectangle: Rounded Corners 21">
            <a:extLst>
              <a:ext uri="{FF2B5EF4-FFF2-40B4-BE49-F238E27FC236}">
                <a16:creationId xmlns:a16="http://schemas.microsoft.com/office/drawing/2014/main" id="{132A4894-367A-4612-BEE1-8D7876D620ED}"/>
              </a:ext>
            </a:extLst>
          </p:cNvPr>
          <p:cNvSpPr/>
          <p:nvPr/>
        </p:nvSpPr>
        <p:spPr>
          <a:xfrm>
            <a:off x="9368413" y="2641841"/>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23" name="Graphic 22">
            <a:extLst>
              <a:ext uri="{FF2B5EF4-FFF2-40B4-BE49-F238E27FC236}">
                <a16:creationId xmlns:a16="http://schemas.microsoft.com/office/drawing/2014/main" id="{C33E7208-C2F4-428A-B360-714A0D01B4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65385" y="2805533"/>
            <a:ext cx="602227" cy="602227"/>
          </a:xfrm>
          <a:prstGeom prst="rect">
            <a:avLst/>
          </a:prstGeom>
        </p:spPr>
      </p:pic>
      <p:sp>
        <p:nvSpPr>
          <p:cNvPr id="24" name="Rectangle: Rounded Corners 23">
            <a:extLst>
              <a:ext uri="{FF2B5EF4-FFF2-40B4-BE49-F238E27FC236}">
                <a16:creationId xmlns:a16="http://schemas.microsoft.com/office/drawing/2014/main" id="{DCF4A009-ED14-43FB-AB5D-4447BF4154D6}"/>
              </a:ext>
            </a:extLst>
          </p:cNvPr>
          <p:cNvSpPr/>
          <p:nvPr/>
        </p:nvSpPr>
        <p:spPr>
          <a:xfrm>
            <a:off x="431081" y="2677307"/>
            <a:ext cx="87865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A] We tried to focus on </a:t>
            </a:r>
            <a:r>
              <a:rPr lang="en-US" sz="1400">
                <a:solidFill>
                  <a:schemeClr val="accent1"/>
                </a:solidFill>
              </a:rPr>
              <a:t>domain expertise </a:t>
            </a:r>
            <a:r>
              <a:rPr lang="en-US" sz="1400">
                <a:solidFill>
                  <a:schemeClr val="tx1"/>
                </a:solidFill>
              </a:rPr>
              <a:t>here. We compiled a list of 30-40 questions that can </a:t>
            </a:r>
          </a:p>
          <a:p>
            <a:r>
              <a:rPr lang="en-US" sz="1400">
                <a:solidFill>
                  <a:schemeClr val="tx1"/>
                </a:solidFill>
              </a:rPr>
              <a:t>      cover high-level and edge functionality.</a:t>
            </a:r>
          </a:p>
          <a:p>
            <a:r>
              <a:rPr lang="en-US" sz="1400">
                <a:solidFill>
                  <a:schemeClr val="tx1"/>
                </a:solidFill>
              </a:rPr>
              <a:t>B] We administered </a:t>
            </a:r>
            <a:r>
              <a:rPr lang="en-US" sz="1400">
                <a:solidFill>
                  <a:schemeClr val="accent1"/>
                </a:solidFill>
              </a:rPr>
              <a:t>an hour-long test </a:t>
            </a:r>
            <a:r>
              <a:rPr lang="en-US" sz="1400">
                <a:solidFill>
                  <a:schemeClr val="tx1"/>
                </a:solidFill>
              </a:rPr>
              <a:t>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p:txBody>
      </p:sp>
      <p:sp>
        <p:nvSpPr>
          <p:cNvPr id="25" name="Text Placeholder 4">
            <a:extLst>
              <a:ext uri="{FF2B5EF4-FFF2-40B4-BE49-F238E27FC236}">
                <a16:creationId xmlns:a16="http://schemas.microsoft.com/office/drawing/2014/main" id="{6F9CCB44-CB36-4B41-9789-41E983968494}"/>
              </a:ext>
            </a:extLst>
          </p:cNvPr>
          <p:cNvSpPr txBox="1">
            <a:spLocks/>
          </p:cNvSpPr>
          <p:nvPr/>
        </p:nvSpPr>
        <p:spPr bwMode="invGray">
          <a:xfrm>
            <a:off x="9493776" y="2705349"/>
            <a:ext cx="1639552" cy="870155"/>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#2</a:t>
            </a:r>
            <a:endParaRPr lang="en-US">
              <a:solidFill>
                <a:srgbClr val="2D2D2D"/>
              </a:solidFill>
            </a:endParaRPr>
          </a:p>
          <a:p>
            <a:pPr algn="l"/>
            <a:r>
              <a:rPr lang="en-US">
                <a:solidFill>
                  <a:srgbClr val="2D2D2D"/>
                </a:solidFill>
              </a:rPr>
              <a:t>      Domain</a:t>
            </a:r>
          </a:p>
        </p:txBody>
      </p:sp>
      <p:sp>
        <p:nvSpPr>
          <p:cNvPr id="27" name="Rectangle: Rounded Corners 26">
            <a:extLst>
              <a:ext uri="{FF2B5EF4-FFF2-40B4-BE49-F238E27FC236}">
                <a16:creationId xmlns:a16="http://schemas.microsoft.com/office/drawing/2014/main" id="{2EBB25AD-42E5-4869-A093-C83E30A831CC}"/>
              </a:ext>
            </a:extLst>
          </p:cNvPr>
          <p:cNvSpPr/>
          <p:nvPr/>
        </p:nvSpPr>
        <p:spPr>
          <a:xfrm>
            <a:off x="1619841" y="3751355"/>
            <a:ext cx="1764915" cy="997168"/>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28" name="Graphic 27">
            <a:extLst>
              <a:ext uri="{FF2B5EF4-FFF2-40B4-BE49-F238E27FC236}">
                <a16:creationId xmlns:a16="http://schemas.microsoft.com/office/drawing/2014/main" id="{41CE5036-715B-4E33-BEE5-D56929243B4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625" y="3948825"/>
            <a:ext cx="602227" cy="602227"/>
          </a:xfrm>
          <a:prstGeom prst="rect">
            <a:avLst/>
          </a:prstGeom>
        </p:spPr>
      </p:pic>
      <p:sp>
        <p:nvSpPr>
          <p:cNvPr id="29" name="Rectangle: Rounded Corners 28">
            <a:extLst>
              <a:ext uri="{FF2B5EF4-FFF2-40B4-BE49-F238E27FC236}">
                <a16:creationId xmlns:a16="http://schemas.microsoft.com/office/drawing/2014/main" id="{A05D9924-F9CB-4E3B-9124-4D17B96599C9}"/>
              </a:ext>
            </a:extLst>
          </p:cNvPr>
          <p:cNvSpPr/>
          <p:nvPr/>
        </p:nvSpPr>
        <p:spPr>
          <a:xfrm>
            <a:off x="3564338" y="3760332"/>
            <a:ext cx="8532343" cy="997168"/>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endParaRPr lang="en-US" sz="1400">
              <a:solidFill>
                <a:schemeClr val="tx1"/>
              </a:solidFill>
            </a:endParaRPr>
          </a:p>
          <a:p>
            <a:r>
              <a:rPr lang="en-US" sz="1400">
                <a:solidFill>
                  <a:schemeClr val="tx1"/>
                </a:solidFill>
              </a:rPr>
              <a:t>A] We tried to focus on overall </a:t>
            </a:r>
            <a:r>
              <a:rPr lang="en-US" sz="1400">
                <a:solidFill>
                  <a:schemeClr val="accent1"/>
                </a:solidFill>
              </a:rPr>
              <a:t>process (Change management, Agile and Tool)</a:t>
            </a:r>
            <a:r>
              <a:rPr lang="en-US" sz="1400">
                <a:solidFill>
                  <a:schemeClr val="tx1"/>
                </a:solidFill>
              </a:rPr>
              <a:t>. </a:t>
            </a:r>
          </a:p>
          <a:p>
            <a:r>
              <a:rPr lang="en-US" sz="1400">
                <a:solidFill>
                  <a:schemeClr val="tx1"/>
                </a:solidFill>
              </a:rPr>
              <a:t>     We compiled a list  of 30-40 questions that can cover end to end process understanding.</a:t>
            </a:r>
            <a:endParaRPr lang="en-US" sz="2400">
              <a:solidFill>
                <a:schemeClr val="tx1"/>
              </a:solidFill>
            </a:endParaRPr>
          </a:p>
          <a:p>
            <a:r>
              <a:rPr lang="en-US" sz="1400">
                <a:solidFill>
                  <a:schemeClr val="tx1"/>
                </a:solidFill>
              </a:rPr>
              <a:t>B] We administered an </a:t>
            </a:r>
            <a:r>
              <a:rPr lang="en-US" sz="1400">
                <a:solidFill>
                  <a:schemeClr val="accent1"/>
                </a:solidFill>
              </a:rPr>
              <a:t>hour-long test</a:t>
            </a:r>
            <a:r>
              <a:rPr lang="en-US" sz="1400">
                <a:solidFill>
                  <a:schemeClr val="tx1"/>
                </a:solidFill>
              </a:rPr>
              <a:t> 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a:p>
            <a:pPr algn="ctr"/>
            <a:endParaRPr lang="en-IN" sz="1400" b="1"/>
          </a:p>
        </p:txBody>
      </p:sp>
      <p:sp>
        <p:nvSpPr>
          <p:cNvPr id="30" name="Text Placeholder 4">
            <a:extLst>
              <a:ext uri="{FF2B5EF4-FFF2-40B4-BE49-F238E27FC236}">
                <a16:creationId xmlns:a16="http://schemas.microsoft.com/office/drawing/2014/main" id="{7BFBE8CC-BC1B-4D96-83B9-C931715E6C2F}"/>
              </a:ext>
            </a:extLst>
          </p:cNvPr>
          <p:cNvSpPr txBox="1">
            <a:spLocks/>
          </p:cNvSpPr>
          <p:nvPr/>
        </p:nvSpPr>
        <p:spPr bwMode="invGray">
          <a:xfrm>
            <a:off x="1682523" y="3814861"/>
            <a:ext cx="1639552" cy="870155"/>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#3</a:t>
            </a:r>
            <a:endParaRPr lang="en-US">
              <a:solidFill>
                <a:srgbClr val="2D2D2D"/>
              </a:solidFill>
            </a:endParaRPr>
          </a:p>
          <a:p>
            <a:pPr algn="l"/>
            <a:r>
              <a:rPr lang="en-US">
                <a:solidFill>
                  <a:srgbClr val="2D2D2D"/>
                </a:solidFill>
              </a:rPr>
              <a:t>     Process</a:t>
            </a:r>
          </a:p>
        </p:txBody>
      </p:sp>
      <p:sp>
        <p:nvSpPr>
          <p:cNvPr id="33" name="Rectangle: Rounded Corners 32">
            <a:extLst>
              <a:ext uri="{FF2B5EF4-FFF2-40B4-BE49-F238E27FC236}">
                <a16:creationId xmlns:a16="http://schemas.microsoft.com/office/drawing/2014/main" id="{1455A01E-EBB6-4A55-8CBB-C46BF5C07CE8}"/>
              </a:ext>
            </a:extLst>
          </p:cNvPr>
          <p:cNvSpPr/>
          <p:nvPr/>
        </p:nvSpPr>
        <p:spPr>
          <a:xfrm>
            <a:off x="9368413" y="5018183"/>
            <a:ext cx="1764915" cy="1126564"/>
          </a:xfrm>
          <a:prstGeom prst="roundRect">
            <a:avLst>
              <a:gd name="adj" fmla="val 8474"/>
            </a:avLst>
          </a:prstGeom>
          <a:solidFill>
            <a:srgbClr val="FF6D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pic>
        <p:nvPicPr>
          <p:cNvPr id="34" name="Graphic 33">
            <a:extLst>
              <a:ext uri="{FF2B5EF4-FFF2-40B4-BE49-F238E27FC236}">
                <a16:creationId xmlns:a16="http://schemas.microsoft.com/office/drawing/2014/main" id="{A07CD95E-0ADF-47E3-8550-DF53F9407A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5989" y="5107756"/>
            <a:ext cx="602227" cy="602227"/>
          </a:xfrm>
          <a:prstGeom prst="rect">
            <a:avLst/>
          </a:prstGeom>
        </p:spPr>
      </p:pic>
      <p:sp>
        <p:nvSpPr>
          <p:cNvPr id="35" name="Rectangle: Rounded Corners 34">
            <a:extLst>
              <a:ext uri="{FF2B5EF4-FFF2-40B4-BE49-F238E27FC236}">
                <a16:creationId xmlns:a16="http://schemas.microsoft.com/office/drawing/2014/main" id="{766DEE69-87AE-40EB-8236-31BFA127189A}"/>
              </a:ext>
            </a:extLst>
          </p:cNvPr>
          <p:cNvSpPr/>
          <p:nvPr/>
        </p:nvSpPr>
        <p:spPr>
          <a:xfrm>
            <a:off x="495949" y="4952455"/>
            <a:ext cx="8740409" cy="1180759"/>
          </a:xfrm>
          <a:prstGeom prst="roundRect">
            <a:avLst>
              <a:gd name="adj" fmla="val 8474"/>
            </a:avLst>
          </a:pr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A] We tried to focus on overall </a:t>
            </a:r>
            <a:r>
              <a:rPr lang="en-US" sz="1400">
                <a:solidFill>
                  <a:schemeClr val="accent1"/>
                </a:solidFill>
              </a:rPr>
              <a:t>programming sense and day to day technical issues (Change </a:t>
            </a:r>
          </a:p>
          <a:p>
            <a:r>
              <a:rPr lang="en-US" sz="1400">
                <a:solidFill>
                  <a:schemeClr val="accent1"/>
                </a:solidFill>
              </a:rPr>
              <a:t>     management and Tools)</a:t>
            </a:r>
            <a:r>
              <a:rPr lang="en-US" sz="1400">
                <a:solidFill>
                  <a:schemeClr val="tx1"/>
                </a:solidFill>
              </a:rPr>
              <a:t>. We compiled a list of 30-40 questions that can cover timebox  </a:t>
            </a:r>
          </a:p>
          <a:p>
            <a:r>
              <a:rPr lang="en-US" sz="1400">
                <a:solidFill>
                  <a:schemeClr val="tx1"/>
                </a:solidFill>
              </a:rPr>
              <a:t>     programming and basic troubleshooting.</a:t>
            </a:r>
          </a:p>
          <a:p>
            <a:r>
              <a:rPr lang="en-US" sz="1400">
                <a:solidFill>
                  <a:schemeClr val="tx1"/>
                </a:solidFill>
              </a:rPr>
              <a:t>B] We administered an </a:t>
            </a:r>
            <a:r>
              <a:rPr lang="en-US" sz="1400">
                <a:solidFill>
                  <a:schemeClr val="accent1"/>
                </a:solidFill>
              </a:rPr>
              <a:t>hour-long test</a:t>
            </a:r>
            <a:r>
              <a:rPr lang="en-US" sz="1400">
                <a:solidFill>
                  <a:schemeClr val="tx1"/>
                </a:solidFill>
              </a:rPr>
              <a:t> to assess their current knowledge. </a:t>
            </a:r>
          </a:p>
          <a:p>
            <a:r>
              <a:rPr lang="en-US" sz="1400">
                <a:solidFill>
                  <a:schemeClr val="tx1"/>
                </a:solidFill>
              </a:rPr>
              <a:t>C] Following the test, </a:t>
            </a:r>
            <a:r>
              <a:rPr lang="en-US" sz="1400">
                <a:solidFill>
                  <a:schemeClr val="accent1"/>
                </a:solidFill>
              </a:rPr>
              <a:t>a one-on-one mentoring session </a:t>
            </a:r>
            <a:r>
              <a:rPr lang="en-US" sz="1400">
                <a:solidFill>
                  <a:schemeClr val="tx1"/>
                </a:solidFill>
              </a:rPr>
              <a:t>was organized to fill knowledge gaps.</a:t>
            </a:r>
            <a:endParaRPr lang="en-IN" sz="1400"/>
          </a:p>
        </p:txBody>
      </p:sp>
      <p:sp>
        <p:nvSpPr>
          <p:cNvPr id="36" name="Text Placeholder 4">
            <a:extLst>
              <a:ext uri="{FF2B5EF4-FFF2-40B4-BE49-F238E27FC236}">
                <a16:creationId xmlns:a16="http://schemas.microsoft.com/office/drawing/2014/main" id="{76433FF1-C283-46A7-89A8-A352170D383D}"/>
              </a:ext>
            </a:extLst>
          </p:cNvPr>
          <p:cNvSpPr txBox="1">
            <a:spLocks/>
          </p:cNvSpPr>
          <p:nvPr/>
        </p:nvSpPr>
        <p:spPr bwMode="invGray">
          <a:xfrm>
            <a:off x="9493776" y="5064625"/>
            <a:ext cx="1639552" cy="1028305"/>
          </a:xfrm>
          <a:prstGeom prst="rect">
            <a:avLst/>
          </a:prstGeom>
        </p:spPr>
        <p:txBody>
          <a:bodyPr lIns="121920" tIns="60960" rIns="121920" bIns="6096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ontserrat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NL">
                <a:solidFill>
                  <a:srgbClr val="2D2D2D"/>
                </a:solidFill>
              </a:rPr>
              <a:t>Focus </a:t>
            </a:r>
            <a:r>
              <a:rPr lang="en-US">
                <a:solidFill>
                  <a:srgbClr val="2D2D2D"/>
                </a:solidFill>
              </a:rPr>
              <a:t>Quiz</a:t>
            </a:r>
            <a:r>
              <a:rPr lang="en-NL">
                <a:solidFill>
                  <a:srgbClr val="2D2D2D"/>
                </a:solidFill>
              </a:rPr>
              <a:t> #4</a:t>
            </a:r>
            <a:endParaRPr lang="en-US">
              <a:solidFill>
                <a:srgbClr val="2D2D2D"/>
              </a:solidFill>
            </a:endParaRPr>
          </a:p>
          <a:p>
            <a:pPr algn="l"/>
            <a:r>
              <a:rPr lang="en-US">
                <a:solidFill>
                  <a:srgbClr val="2D2D2D"/>
                </a:solidFill>
                <a:latin typeface="Montserrat SemiBold"/>
              </a:rPr>
              <a:t>Programming &amp; trouble-shooting </a:t>
            </a:r>
            <a:endParaRPr lang="en-US">
              <a:solidFill>
                <a:srgbClr val="2D2D2D"/>
              </a:solidFill>
            </a:endParaRPr>
          </a:p>
        </p:txBody>
      </p:sp>
      <p:graphicFrame>
        <p:nvGraphicFramePr>
          <p:cNvPr id="11" name="Table 11">
            <a:extLst>
              <a:ext uri="{FF2B5EF4-FFF2-40B4-BE49-F238E27FC236}">
                <a16:creationId xmlns:a16="http://schemas.microsoft.com/office/drawing/2014/main" id="{699D371E-8F63-A94D-35FE-77C7AABFD755}"/>
              </a:ext>
            </a:extLst>
          </p:cNvPr>
          <p:cNvGraphicFramePr>
            <a:graphicFrameLocks noGrp="1"/>
          </p:cNvGraphicFramePr>
          <p:nvPr/>
        </p:nvGraphicFramePr>
        <p:xfrm>
          <a:off x="9345285" y="143773"/>
          <a:ext cx="2385641" cy="1193072"/>
        </p:xfrm>
        <a:graphic>
          <a:graphicData uri="http://schemas.openxmlformats.org/drawingml/2006/table">
            <a:tbl>
              <a:tblPr firstRow="1" bandRow="1">
                <a:tableStyleId>{5C22544A-7EE6-4342-B048-85BDC9FD1C3A}</a:tableStyleId>
              </a:tblPr>
              <a:tblGrid>
                <a:gridCol w="2385641">
                  <a:extLst>
                    <a:ext uri="{9D8B030D-6E8A-4147-A177-3AD203B41FA5}">
                      <a16:colId xmlns:a16="http://schemas.microsoft.com/office/drawing/2014/main" val="2777619534"/>
                    </a:ext>
                  </a:extLst>
                </a:gridCol>
              </a:tblGrid>
              <a:tr h="1193072">
                <a:tc>
                  <a:txBody>
                    <a:bodyPr/>
                    <a:lstStyle/>
                    <a:p>
                      <a:endParaRPr lang="en-US" sz="1300"/>
                    </a:p>
                  </a:txBody>
                  <a:tcPr/>
                </a:tc>
                <a:extLst>
                  <a:ext uri="{0D108BD9-81ED-4DB2-BD59-A6C34878D82A}">
                    <a16:rowId xmlns:a16="http://schemas.microsoft.com/office/drawing/2014/main" val="305404448"/>
                  </a:ext>
                </a:extLst>
              </a:tr>
            </a:tbl>
          </a:graphicData>
        </a:graphic>
      </p:graphicFrame>
      <mc:AlternateContent xmlns:mc="http://schemas.openxmlformats.org/markup-compatibility/2006">
        <mc:Choice xmlns:am3d="http://schemas.microsoft.com/office/drawing/2017/model3d" Requires="am3d">
          <p:graphicFrame>
            <p:nvGraphicFramePr>
              <p:cNvPr id="4" name="3D Model 3" descr="Smiling Face">
                <a:extLst>
                  <a:ext uri="{FF2B5EF4-FFF2-40B4-BE49-F238E27FC236}">
                    <a16:creationId xmlns:a16="http://schemas.microsoft.com/office/drawing/2014/main" id="{6D7F7644-8E3A-244C-6263-46B5044ECE90}"/>
                  </a:ext>
                </a:extLst>
              </p:cNvPr>
              <p:cNvGraphicFramePr>
                <a:graphicFrameLocks noChangeAspect="1"/>
              </p:cNvGraphicFramePr>
              <p:nvPr/>
            </p:nvGraphicFramePr>
            <p:xfrm>
              <a:off x="9534297" y="212439"/>
              <a:ext cx="827723" cy="846751"/>
            </p:xfrm>
            <a:graphic>
              <a:graphicData uri="http://schemas.microsoft.com/office/drawing/2017/model3d">
                <am3d:model3d r:embed="rId4">
                  <am3d:spPr>
                    <a:xfrm>
                      <a:off x="0" y="0"/>
                      <a:ext cx="827723" cy="846751"/>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Smiling Face">
                <a:extLst>
                  <a:ext uri="{FF2B5EF4-FFF2-40B4-BE49-F238E27FC236}">
                    <a16:creationId xmlns:a16="http://schemas.microsoft.com/office/drawing/2014/main" id="{6D7F7644-8E3A-244C-6263-46B5044ECE90}"/>
                  </a:ext>
                </a:extLst>
              </p:cNvPr>
              <p:cNvPicPr>
                <a:picLocks noGrp="1" noRot="1" noChangeAspect="1" noMove="1" noResize="1" noEditPoints="1" noAdjustHandles="1" noChangeArrowheads="1" noChangeShapeType="1" noCrop="1"/>
              </p:cNvPicPr>
              <p:nvPr/>
            </p:nvPicPr>
            <p:blipFill>
              <a:blip r:embed="rId5"/>
              <a:stretch>
                <a:fillRect/>
              </a:stretch>
            </p:blipFill>
            <p:spPr>
              <a:xfrm>
                <a:off x="9534297" y="212439"/>
                <a:ext cx="827723" cy="84675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0" name="3D Model 9" descr="Smiling Face">
                <a:extLst>
                  <a:ext uri="{FF2B5EF4-FFF2-40B4-BE49-F238E27FC236}">
                    <a16:creationId xmlns:a16="http://schemas.microsoft.com/office/drawing/2014/main" id="{5D6DEFC2-7131-BFEA-6A31-C5F2E7589AC2}"/>
                  </a:ext>
                </a:extLst>
              </p:cNvPr>
              <p:cNvGraphicFramePr>
                <a:graphicFrameLocks noChangeAspect="1"/>
              </p:cNvGraphicFramePr>
              <p:nvPr/>
            </p:nvGraphicFramePr>
            <p:xfrm>
              <a:off x="10645057" y="170105"/>
              <a:ext cx="827723" cy="846751"/>
            </p:xfrm>
            <a:graphic>
              <a:graphicData uri="http://schemas.microsoft.com/office/drawing/2017/model3d">
                <am3d:model3d r:embed="rId4">
                  <am3d:spPr>
                    <a:xfrm>
                      <a:off x="0" y="0"/>
                      <a:ext cx="827723" cy="846751"/>
                    </a:xfrm>
                    <a:prstGeom prst="rect">
                      <a:avLst/>
                    </a:prstGeom>
                  </am3d:spPr>
                  <am3d:camera>
                    <am3d:pos x="0" y="0" z="80938013"/>
                    <am3d:up dx="0" dy="36000000" dz="0"/>
                    <am3d:lookAt x="0" y="0" z="0"/>
                    <am3d:perspective fov="2700000"/>
                  </am3d:camera>
                  <am3d:trans>
                    <am3d:meterPerModelUnit n="61067647" d="1000000"/>
                    <am3d:preTrans dx="0" dy="-2" dz="1153533"/>
                    <am3d:scale>
                      <am3d:sx n="1000000" d="1000000"/>
                      <am3d:sy n="1000000" d="1000000"/>
                      <am3d:sz n="1000000" d="1000000"/>
                    </am3d:scale>
                    <am3d:rot ax="103799" ay="103701" az="3133"/>
                    <am3d:postTrans dx="0" dy="0" dz="0"/>
                  </am3d:trans>
                  <am3d:raster rName="Office3DRenderer" rVer="16.0.8326">
                    <am3d:blip r:embed="rId5"/>
                  </am3d:raster>
                  <am3d:objViewport viewportSz="13461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Smiling Face">
                <a:extLst>
                  <a:ext uri="{FF2B5EF4-FFF2-40B4-BE49-F238E27FC236}">
                    <a16:creationId xmlns:a16="http://schemas.microsoft.com/office/drawing/2014/main" id="{5D6DEFC2-7131-BFEA-6A31-C5F2E7589AC2}"/>
                  </a:ext>
                </a:extLst>
              </p:cNvPr>
              <p:cNvPicPr>
                <a:picLocks noGrp="1" noRot="1" noChangeAspect="1" noMove="1" noResize="1" noEditPoints="1" noAdjustHandles="1" noChangeArrowheads="1" noChangeShapeType="1" noCrop="1"/>
              </p:cNvPicPr>
              <p:nvPr/>
            </p:nvPicPr>
            <p:blipFill>
              <a:blip r:embed="rId5"/>
              <a:stretch>
                <a:fillRect/>
              </a:stretch>
            </p:blipFill>
            <p:spPr>
              <a:xfrm>
                <a:off x="10645057" y="170105"/>
                <a:ext cx="827723" cy="846751"/>
              </a:xfrm>
              <a:prstGeom prst="rect">
                <a:avLst/>
              </a:prstGeom>
            </p:spPr>
          </p:pic>
        </mc:Fallback>
      </mc:AlternateContent>
      <p:sp>
        <p:nvSpPr>
          <p:cNvPr id="12" name="TextBox 11">
            <a:extLst>
              <a:ext uri="{FF2B5EF4-FFF2-40B4-BE49-F238E27FC236}">
                <a16:creationId xmlns:a16="http://schemas.microsoft.com/office/drawing/2014/main" id="{85C0B5B8-B45E-6E99-558A-A9B9DDEA6FDD}"/>
              </a:ext>
            </a:extLst>
          </p:cNvPr>
          <p:cNvSpPr txBox="1"/>
          <p:nvPr/>
        </p:nvSpPr>
        <p:spPr>
          <a:xfrm>
            <a:off x="9499505" y="1001143"/>
            <a:ext cx="1145552" cy="338554"/>
          </a:xfrm>
          <a:prstGeom prst="rect">
            <a:avLst/>
          </a:prstGeom>
          <a:noFill/>
        </p:spPr>
        <p:txBody>
          <a:bodyPr wrap="square" rtlCol="0">
            <a:spAutoFit/>
          </a:bodyPr>
          <a:lstStyle/>
          <a:p>
            <a:r>
              <a:rPr lang="en-US" sz="1600" b="1"/>
              <a:t>Mentee</a:t>
            </a:r>
          </a:p>
        </p:txBody>
      </p:sp>
      <p:sp>
        <p:nvSpPr>
          <p:cNvPr id="13" name="TextBox 12">
            <a:extLst>
              <a:ext uri="{FF2B5EF4-FFF2-40B4-BE49-F238E27FC236}">
                <a16:creationId xmlns:a16="http://schemas.microsoft.com/office/drawing/2014/main" id="{3A62365D-530B-359D-9DF8-C431B11E82E6}"/>
              </a:ext>
            </a:extLst>
          </p:cNvPr>
          <p:cNvSpPr txBox="1"/>
          <p:nvPr/>
        </p:nvSpPr>
        <p:spPr>
          <a:xfrm>
            <a:off x="10560552" y="1016855"/>
            <a:ext cx="1145552" cy="338554"/>
          </a:xfrm>
          <a:prstGeom prst="rect">
            <a:avLst/>
          </a:prstGeom>
          <a:noFill/>
        </p:spPr>
        <p:txBody>
          <a:bodyPr wrap="square" rtlCol="0">
            <a:spAutoFit/>
          </a:bodyPr>
          <a:lstStyle/>
          <a:p>
            <a:r>
              <a:rPr lang="en-US" sz="1600" b="1"/>
              <a:t>Mentors</a:t>
            </a:r>
          </a:p>
        </p:txBody>
      </p:sp>
    </p:spTree>
    <p:extLst>
      <p:ext uri="{BB962C8B-B14F-4D97-AF65-F5344CB8AC3E}">
        <p14:creationId xmlns:p14="http://schemas.microsoft.com/office/powerpoint/2010/main" val="1788227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706F74-0BCE-0BDF-223A-FD1CB500C207}"/>
              </a:ext>
            </a:extLst>
          </p:cNvPr>
          <p:cNvSpPr txBox="1"/>
          <p:nvPr/>
        </p:nvSpPr>
        <p:spPr>
          <a:xfrm>
            <a:off x="573257" y="247223"/>
            <a:ext cx="9231923" cy="461665"/>
          </a:xfrm>
          <a:prstGeom prst="rect">
            <a:avLst/>
          </a:prstGeom>
          <a:noFill/>
        </p:spPr>
        <p:txBody>
          <a:bodyPr wrap="square">
            <a:spAutoFit/>
          </a:bodyPr>
          <a:lstStyle/>
          <a:p>
            <a:r>
              <a:rPr lang="en-US" sz="2400" dirty="0">
                <a:solidFill>
                  <a:schemeClr val="accent1"/>
                </a:solidFill>
                <a:latin typeface="+mj-lt"/>
              </a:rPr>
              <a:t>Continuous Improvement – Defect Control  - Defect Prevention </a:t>
            </a:r>
            <a:endParaRPr lang="en-IN" sz="2400" dirty="0">
              <a:solidFill>
                <a:schemeClr val="accent1"/>
              </a:solidFill>
              <a:latin typeface="+mj-lt"/>
            </a:endParaRPr>
          </a:p>
        </p:txBody>
      </p:sp>
      <p:sp>
        <p:nvSpPr>
          <p:cNvPr id="8" name="TextBox 7">
            <a:extLst>
              <a:ext uri="{FF2B5EF4-FFF2-40B4-BE49-F238E27FC236}">
                <a16:creationId xmlns:a16="http://schemas.microsoft.com/office/drawing/2014/main" id="{2574407F-ADA8-02F2-1BE8-2DB1B2B3A5EA}"/>
              </a:ext>
            </a:extLst>
          </p:cNvPr>
          <p:cNvSpPr txBox="1"/>
          <p:nvPr/>
        </p:nvSpPr>
        <p:spPr>
          <a:xfrm>
            <a:off x="573257" y="720208"/>
            <a:ext cx="7431260" cy="400110"/>
          </a:xfrm>
          <a:prstGeom prst="rect">
            <a:avLst/>
          </a:prstGeom>
          <a:noFill/>
        </p:spPr>
        <p:txBody>
          <a:bodyPr wrap="square">
            <a:spAutoFit/>
          </a:bodyPr>
          <a:lstStyle/>
          <a:p>
            <a:r>
              <a:rPr lang="en-US" sz="2000" dirty="0">
                <a:solidFill>
                  <a:schemeClr val="accent1"/>
                </a:solidFill>
                <a:latin typeface="+mj-lt"/>
              </a:rPr>
              <a:t>One initiative to improve overall end customer experience</a:t>
            </a:r>
            <a:endParaRPr lang="en-IN" sz="2000" dirty="0">
              <a:solidFill>
                <a:schemeClr val="accent1"/>
              </a:solidFill>
              <a:latin typeface="+mj-lt"/>
            </a:endParaRPr>
          </a:p>
        </p:txBody>
      </p:sp>
      <p:sp>
        <p:nvSpPr>
          <p:cNvPr id="16" name="TextBox 15">
            <a:extLst>
              <a:ext uri="{FF2B5EF4-FFF2-40B4-BE49-F238E27FC236}">
                <a16:creationId xmlns:a16="http://schemas.microsoft.com/office/drawing/2014/main" id="{9EE11585-2B3D-F89D-3162-165A54A16D52}"/>
              </a:ext>
            </a:extLst>
          </p:cNvPr>
          <p:cNvSpPr txBox="1"/>
          <p:nvPr/>
        </p:nvSpPr>
        <p:spPr>
          <a:xfrm>
            <a:off x="573257" y="1131638"/>
            <a:ext cx="10204704" cy="5678478"/>
          </a:xfrm>
          <a:prstGeom prst="rect">
            <a:avLst/>
          </a:prstGeom>
          <a:noFill/>
        </p:spPr>
        <p:txBody>
          <a:bodyPr wrap="square" rtlCol="0">
            <a:spAutoFit/>
          </a:bodyPr>
          <a:lstStyle/>
          <a:p>
            <a:r>
              <a:rPr lang="en-US" sz="1500" dirty="0">
                <a:solidFill>
                  <a:schemeClr val="accent1"/>
                </a:solidFill>
                <a:latin typeface="+mj-lt"/>
              </a:rPr>
              <a:t>Background</a:t>
            </a:r>
          </a:p>
          <a:p>
            <a:endParaRPr lang="en-US" sz="1300" dirty="0"/>
          </a:p>
          <a:p>
            <a:pPr marL="342900" indent="-342900">
              <a:buAutoNum type="arabicPeriod"/>
            </a:pPr>
            <a:r>
              <a:rPr lang="en-US" sz="1200" dirty="0"/>
              <a:t>Development defects are inevitable due to the fast pace of development and continuous changes. It’s important to shift our  </a:t>
            </a:r>
          </a:p>
          <a:p>
            <a:r>
              <a:rPr lang="en-US" sz="1200" dirty="0"/>
              <a:t>        perception toward defect detection and resolution - fixing issues before a release is a healthy part of the process.</a:t>
            </a:r>
          </a:p>
          <a:p>
            <a:r>
              <a:rPr lang="en-US" sz="1200" dirty="0"/>
              <a:t>2.     When development and testing teams collaborate with a positive and solution-oriented mindset, instead of treating it as a blame  </a:t>
            </a:r>
          </a:p>
          <a:p>
            <a:r>
              <a:rPr lang="en-US" sz="1200" dirty="0"/>
              <a:t>        game, they can achieve exceptional outcomes.</a:t>
            </a:r>
          </a:p>
          <a:p>
            <a:pPr marL="342900" indent="-342900">
              <a:buAutoNum type="arabicPeriod" startAt="3"/>
            </a:pPr>
            <a:r>
              <a:rPr lang="en-US" sz="1200" dirty="0"/>
              <a:t>Collaboration and teamwork are powerful drivers of success - synergy across teams with the right mindset leads to faster defect resolution and better-quality delivery.</a:t>
            </a:r>
          </a:p>
          <a:p>
            <a:endParaRPr lang="en-US" sz="1300" dirty="0"/>
          </a:p>
          <a:p>
            <a:r>
              <a:rPr lang="en-US" sz="1500" dirty="0">
                <a:solidFill>
                  <a:schemeClr val="accent1"/>
                </a:solidFill>
                <a:latin typeface="+mj-lt"/>
              </a:rPr>
              <a:t>Defect Prevention Activity (DPA)</a:t>
            </a:r>
          </a:p>
          <a:p>
            <a:endParaRPr lang="en-US" sz="1300" dirty="0"/>
          </a:p>
          <a:p>
            <a:r>
              <a:rPr lang="en-US" sz="1200" dirty="0"/>
              <a:t>Defect Prevention Activity (DPA) is an ongoing collaborative initiative where teams analyze development defects, identify patterns, and understand the root causes. The focus is on learning from past issues, sharing insights across the team, and implementing preventive measures at each stage of the Software Development Life Cycle (SDLC) to minimize future defects.</a:t>
            </a:r>
          </a:p>
          <a:p>
            <a:endParaRPr lang="en-US" sz="1300" dirty="0"/>
          </a:p>
          <a:p>
            <a:r>
              <a:rPr lang="en-US" sz="1500" dirty="0">
                <a:solidFill>
                  <a:schemeClr val="accent1"/>
                </a:solidFill>
                <a:latin typeface="+mj-lt"/>
              </a:rPr>
              <a:t>Ensuring Robust Development</a:t>
            </a:r>
          </a:p>
          <a:p>
            <a:endParaRPr lang="en-US" sz="1300" dirty="0"/>
          </a:p>
          <a:p>
            <a:r>
              <a:rPr lang="en-US" sz="1200" dirty="0"/>
              <a:t>We must ensure that every stage of development is strong enough to catch potential issues early - before regression testing. This includes close monitoring during story prebuilds, conducting thorough code reviews, and proactively identifying potential problems during test execution.</a:t>
            </a:r>
          </a:p>
          <a:p>
            <a:endParaRPr lang="en-US" sz="1500" dirty="0"/>
          </a:p>
          <a:p>
            <a:r>
              <a:rPr lang="en-US" sz="1500" dirty="0">
                <a:solidFill>
                  <a:schemeClr val="accent1"/>
                </a:solidFill>
                <a:latin typeface="+mj-lt"/>
              </a:rPr>
              <a:t>How to Do That – Learning from Failures and Preparing for the Next Testing Cycle</a:t>
            </a:r>
          </a:p>
          <a:p>
            <a:endParaRPr lang="en-US" sz="1300" dirty="0"/>
          </a:p>
          <a:p>
            <a:pPr marL="342900" indent="-342900">
              <a:buAutoNum type="arabicPeriod"/>
            </a:pPr>
            <a:r>
              <a:rPr lang="en-US" sz="1300" dirty="0"/>
              <a:t>Extract defect lists from past releases, including details such as title, ID, business priority, and resolution notes (developer).</a:t>
            </a:r>
          </a:p>
          <a:p>
            <a:r>
              <a:rPr lang="en-US" sz="1300" dirty="0"/>
              <a:t>2.     Conduct brainstorming sessions with the team to analyze recurring issues.</a:t>
            </a:r>
          </a:p>
          <a:p>
            <a:r>
              <a:rPr lang="en-US" sz="1300" dirty="0"/>
              <a:t>3.     Prepare targeted improvement plans based on identified patterns.</a:t>
            </a:r>
          </a:p>
          <a:p>
            <a:r>
              <a:rPr lang="en-US" sz="1300" dirty="0"/>
              <a:t>4</a:t>
            </a:r>
            <a:r>
              <a:rPr lang="en-US" sz="1300"/>
              <a:t>.     Involve </a:t>
            </a:r>
            <a:r>
              <a:rPr lang="en-US" sz="1300" dirty="0"/>
              <a:t>the testing team in review sessions to gather feedback and improve future cycles.</a:t>
            </a:r>
          </a:p>
          <a:p>
            <a:endParaRPr lang="en-US" sz="1300" dirty="0"/>
          </a:p>
          <a:p>
            <a:endParaRPr lang="en-US" sz="1300" dirty="0"/>
          </a:p>
        </p:txBody>
      </p:sp>
    </p:spTree>
    <p:extLst>
      <p:ext uri="{BB962C8B-B14F-4D97-AF65-F5344CB8AC3E}">
        <p14:creationId xmlns:p14="http://schemas.microsoft.com/office/powerpoint/2010/main" val="1312049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D652-026D-50D5-0987-667DFDE37768}"/>
              </a:ext>
            </a:extLst>
          </p:cNvPr>
          <p:cNvSpPr>
            <a:spLocks noGrp="1"/>
          </p:cNvSpPr>
          <p:nvPr>
            <p:ph type="title"/>
          </p:nvPr>
        </p:nvSpPr>
        <p:spPr>
          <a:xfrm>
            <a:off x="555950" y="258188"/>
            <a:ext cx="11484000" cy="369332"/>
          </a:xfrm>
        </p:spPr>
        <p:txBody>
          <a:bodyPr/>
          <a:lstStyle/>
          <a:p>
            <a:r>
              <a:rPr lang="en-US" sz="2400" dirty="0">
                <a:solidFill>
                  <a:schemeClr val="accent1"/>
                </a:solidFill>
                <a:latin typeface="+mj-lt"/>
              </a:rPr>
              <a:t>Project Release Readiness</a:t>
            </a:r>
            <a:endParaRPr lang="en-IN" sz="2400" dirty="0">
              <a:solidFill>
                <a:schemeClr val="accent1"/>
              </a:solidFill>
              <a:latin typeface="+mj-lt"/>
            </a:endParaRPr>
          </a:p>
        </p:txBody>
      </p:sp>
      <p:sp>
        <p:nvSpPr>
          <p:cNvPr id="3" name="Text Placeholder 2">
            <a:extLst>
              <a:ext uri="{FF2B5EF4-FFF2-40B4-BE49-F238E27FC236}">
                <a16:creationId xmlns:a16="http://schemas.microsoft.com/office/drawing/2014/main" id="{76905C8A-F396-B0FE-66D7-A1357D934871}"/>
              </a:ext>
            </a:extLst>
          </p:cNvPr>
          <p:cNvSpPr>
            <a:spLocks noGrp="1"/>
          </p:cNvSpPr>
          <p:nvPr>
            <p:ph type="body" sz="quarter" idx="10"/>
          </p:nvPr>
        </p:nvSpPr>
        <p:spPr>
          <a:xfrm>
            <a:off x="555950" y="760593"/>
            <a:ext cx="11484000" cy="1857303"/>
          </a:xfrm>
        </p:spPr>
        <p:txBody>
          <a:bodyPr/>
          <a:lstStyle/>
          <a:p>
            <a:r>
              <a:rPr lang="en-US" sz="2000" dirty="0">
                <a:solidFill>
                  <a:schemeClr val="accent1"/>
                </a:solidFill>
                <a:latin typeface="+mj-lt"/>
              </a:rPr>
              <a:t>One initiative to track the feature progress at one place</a:t>
            </a:r>
            <a:endParaRPr lang="en-IN" sz="2000" dirty="0">
              <a:solidFill>
                <a:schemeClr val="accent1"/>
              </a:solidFill>
              <a:latin typeface="+mj-lt"/>
            </a:endParaRPr>
          </a:p>
          <a:p>
            <a:endParaRPr lang="en-IN" sz="2000" dirty="0">
              <a:solidFill>
                <a:schemeClr val="accent1"/>
              </a:solidFill>
            </a:endParaRPr>
          </a:p>
          <a:p>
            <a:endParaRPr lang="en-IN" sz="2000" dirty="0">
              <a:solidFill>
                <a:schemeClr val="accent1"/>
              </a:solidFill>
              <a:latin typeface="+mj-lt"/>
            </a:endParaRPr>
          </a:p>
          <a:p>
            <a:endParaRPr lang="en-IN" dirty="0"/>
          </a:p>
        </p:txBody>
      </p:sp>
      <p:sp>
        <p:nvSpPr>
          <p:cNvPr id="5" name="TextBox 4">
            <a:extLst>
              <a:ext uri="{FF2B5EF4-FFF2-40B4-BE49-F238E27FC236}">
                <a16:creationId xmlns:a16="http://schemas.microsoft.com/office/drawing/2014/main" id="{75687625-DD97-A16A-5F86-A0F69339C09C}"/>
              </a:ext>
            </a:extLst>
          </p:cNvPr>
          <p:cNvSpPr txBox="1"/>
          <p:nvPr/>
        </p:nvSpPr>
        <p:spPr>
          <a:xfrm>
            <a:off x="555950" y="1458604"/>
            <a:ext cx="8591566" cy="1938992"/>
          </a:xfrm>
          <a:prstGeom prst="rect">
            <a:avLst/>
          </a:prstGeom>
          <a:noFill/>
        </p:spPr>
        <p:txBody>
          <a:bodyPr wrap="square">
            <a:spAutoFit/>
          </a:bodyPr>
          <a:lstStyle/>
          <a:p>
            <a:pPr marL="380990" indent="-380990">
              <a:buFont typeface="Arial" panose="020B0604020202020204" pitchFamily="34" charset="0"/>
              <a:buChar char="•"/>
            </a:pPr>
            <a:r>
              <a:rPr lang="en-US" sz="2000" b="1" dirty="0">
                <a:solidFill>
                  <a:schemeClr val="tx2"/>
                </a:solidFill>
              </a:rPr>
              <a:t>One stop sheet – Monitoring features progress for all scrum teams</a:t>
            </a:r>
          </a:p>
          <a:p>
            <a:pPr marL="380990" indent="-380990">
              <a:buFont typeface="Arial" panose="020B0604020202020204" pitchFamily="34" charset="0"/>
              <a:buChar char="•"/>
            </a:pPr>
            <a:r>
              <a:rPr lang="en-US" sz="2000" b="1" dirty="0">
                <a:solidFill>
                  <a:schemeClr val="tx2"/>
                </a:solidFill>
              </a:rPr>
              <a:t>Meaningful insights for management </a:t>
            </a:r>
          </a:p>
          <a:p>
            <a:pPr marL="380990" indent="-380990">
              <a:buFont typeface="Arial" panose="020B0604020202020204" pitchFamily="34" charset="0"/>
              <a:buChar char="•"/>
            </a:pPr>
            <a:r>
              <a:rPr lang="en-US" sz="2000" b="1" dirty="0">
                <a:solidFill>
                  <a:schemeClr val="tx2"/>
                </a:solidFill>
              </a:rPr>
              <a:t>Keep everyone on same page</a:t>
            </a:r>
          </a:p>
          <a:p>
            <a:pPr marL="380990" indent="-380990">
              <a:buFont typeface="Arial" panose="020B0604020202020204" pitchFamily="34" charset="0"/>
              <a:buChar char="•"/>
            </a:pPr>
            <a:r>
              <a:rPr lang="en-US" sz="2000" b="1" dirty="0">
                <a:solidFill>
                  <a:schemeClr val="tx2"/>
                </a:solidFill>
              </a:rPr>
              <a:t>Avoid any slippage </a:t>
            </a:r>
          </a:p>
          <a:p>
            <a:pPr marL="380990" indent="-380990">
              <a:buFont typeface="Arial" panose="020B0604020202020204" pitchFamily="34" charset="0"/>
              <a:buChar char="•"/>
            </a:pPr>
            <a:endParaRPr lang="en-US" sz="2000" b="1" dirty="0">
              <a:solidFill>
                <a:schemeClr val="accent1"/>
              </a:solidFill>
              <a:latin typeface="+mj-lt"/>
            </a:endParaRPr>
          </a:p>
          <a:p>
            <a:r>
              <a:rPr lang="en-US" sz="2000" b="1" dirty="0">
                <a:solidFill>
                  <a:schemeClr val="accent1"/>
                </a:solidFill>
                <a:latin typeface="+mj-lt"/>
              </a:rPr>
              <a:t>     </a:t>
            </a:r>
            <a:r>
              <a:rPr lang="en-US" sz="2000" dirty="0">
                <a:latin typeface="+mj-lt"/>
              </a:rPr>
              <a:t>Refer attachment – </a:t>
            </a:r>
            <a:r>
              <a:rPr lang="en-US" sz="2000" dirty="0" err="1">
                <a:latin typeface="+mj-lt"/>
              </a:rPr>
              <a:t>Feature_Project_Release</a:t>
            </a:r>
            <a:r>
              <a:rPr lang="en-US" sz="2000" dirty="0">
                <a:latin typeface="+mj-lt"/>
              </a:rPr>
              <a:t> Readiness </a:t>
            </a:r>
          </a:p>
        </p:txBody>
      </p:sp>
      <p:graphicFrame>
        <p:nvGraphicFramePr>
          <p:cNvPr id="4" name="Object 3">
            <a:extLst>
              <a:ext uri="{FF2B5EF4-FFF2-40B4-BE49-F238E27FC236}">
                <a16:creationId xmlns:a16="http://schemas.microsoft.com/office/drawing/2014/main" id="{FCC1F5AC-DEB1-A9F6-353B-17D0BDE73CEC}"/>
              </a:ext>
            </a:extLst>
          </p:cNvPr>
          <p:cNvGraphicFramePr>
            <a:graphicFrameLocks noChangeAspect="1"/>
          </p:cNvGraphicFramePr>
          <p:nvPr>
            <p:extLst>
              <p:ext uri="{D42A27DB-BD31-4B8C-83A1-F6EECF244321}">
                <p14:modId xmlns:p14="http://schemas.microsoft.com/office/powerpoint/2010/main" val="2766342997"/>
              </p:ext>
            </p:extLst>
          </p:nvPr>
        </p:nvGraphicFramePr>
        <p:xfrm>
          <a:off x="7376160" y="2597885"/>
          <a:ext cx="1698204" cy="1497722"/>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4" name="Object 3">
                        <a:extLst>
                          <a:ext uri="{FF2B5EF4-FFF2-40B4-BE49-F238E27FC236}">
                            <a16:creationId xmlns:a16="http://schemas.microsoft.com/office/drawing/2014/main" id="{FCC1F5AC-DEB1-A9F6-353B-17D0BDE73CEC}"/>
                          </a:ext>
                        </a:extLst>
                      </p:cNvPr>
                      <p:cNvPicPr/>
                      <p:nvPr/>
                    </p:nvPicPr>
                    <p:blipFill>
                      <a:blip r:embed="rId3"/>
                      <a:stretch>
                        <a:fillRect/>
                      </a:stretch>
                    </p:blipFill>
                    <p:spPr>
                      <a:xfrm>
                        <a:off x="7376160" y="2597885"/>
                        <a:ext cx="1698204" cy="1497722"/>
                      </a:xfrm>
                      <a:prstGeom prst="rect">
                        <a:avLst/>
                      </a:prstGeom>
                    </p:spPr>
                  </p:pic>
                </p:oleObj>
              </mc:Fallback>
            </mc:AlternateContent>
          </a:graphicData>
        </a:graphic>
      </p:graphicFrame>
    </p:spTree>
    <p:extLst>
      <p:ext uri="{BB962C8B-B14F-4D97-AF65-F5344CB8AC3E}">
        <p14:creationId xmlns:p14="http://schemas.microsoft.com/office/powerpoint/2010/main" val="4253297823"/>
      </p:ext>
    </p:extLst>
  </p:cSld>
  <p:clrMapOvr>
    <a:masterClrMapping/>
  </p:clrMapOvr>
</p:sld>
</file>

<file path=ppt/theme/theme1.xml><?xml version="1.0" encoding="utf-8"?>
<a:theme xmlns:a="http://schemas.openxmlformats.org/drawingml/2006/main" name="Tribune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docProps/app.xml><?xml version="1.0" encoding="utf-8"?>
<Properties xmlns="http://schemas.openxmlformats.org/officeDocument/2006/extended-properties" xmlns:vt="http://schemas.openxmlformats.org/officeDocument/2006/docPropsVTypes">
  <Template>Ion</Template>
  <TotalTime>72</TotalTime>
  <Words>1107</Words>
  <Application>Microsoft Office PowerPoint</Application>
  <PresentationFormat>Widescreen</PresentationFormat>
  <Paragraphs>93</Paragraphs>
  <Slides>6</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6</vt:i4>
      </vt:variant>
    </vt:vector>
  </HeadingPairs>
  <TitlesOfParts>
    <vt:vector size="16" baseType="lpstr">
      <vt:lpstr>Amasis MT Pro Medium</vt:lpstr>
      <vt:lpstr>Arial</vt:lpstr>
      <vt:lpstr>Calibri</vt:lpstr>
      <vt:lpstr>Montserrat</vt:lpstr>
      <vt:lpstr>Montserrat Bold</vt:lpstr>
      <vt:lpstr>Montserrat SemiBold</vt:lpstr>
      <vt:lpstr>Univers Light</vt:lpstr>
      <vt:lpstr>TribuneVTI</vt:lpstr>
      <vt:lpstr>Worksheet</vt:lpstr>
      <vt:lpstr>Microsoft Excel Worksheet</vt:lpstr>
      <vt:lpstr>Accelerators in Software Engineering Project </vt:lpstr>
      <vt:lpstr>Braingile - Unlock Developer's  Feature level confidence  - &lt;Feature Name&gt; One initiative to improve developer velocity </vt:lpstr>
      <vt:lpstr>Effective Scrum Tracking </vt:lpstr>
      <vt:lpstr>   Accelerating the Mentorship Program</vt:lpstr>
      <vt:lpstr>PowerPoint Presentation</vt:lpstr>
      <vt:lpstr>Project Release Readiness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Leadership Initiatives</dc:title>
  <dc:creator>Abhijeet Mukkawar</dc:creator>
  <cp:lastModifiedBy>Mukkawar, Abhijeet</cp:lastModifiedBy>
  <cp:revision>2</cp:revision>
  <dcterms:created xsi:type="dcterms:W3CDTF">2023-12-01T13:16:23Z</dcterms:created>
  <dcterms:modified xsi:type="dcterms:W3CDTF">2026-03-16T17:16:09Z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b69475-382c-4c7a-b21d-8ca64eeef1bd_Enabled">
    <vt:lpwstr>true</vt:lpwstr>
  </property>
  <property fmtid="{D5CDD505-2E9C-101B-9397-08002B2CF9AE}" pid="3" name="MSIP_Label_ecb69475-382c-4c7a-b21d-8ca64eeef1bd_SetDate">
    <vt:lpwstr>2023-12-01T13:16:53Z</vt:lpwstr>
  </property>
  <property fmtid="{D5CDD505-2E9C-101B-9397-08002B2CF9AE}" pid="4" name="MSIP_Label_ecb69475-382c-4c7a-b21d-8ca64eeef1bd_Method">
    <vt:lpwstr>Standard</vt:lpwstr>
  </property>
  <property fmtid="{D5CDD505-2E9C-101B-9397-08002B2CF9AE}" pid="5" name="MSIP_Label_ecb69475-382c-4c7a-b21d-8ca64eeef1bd_Name">
    <vt:lpwstr>Eviden For Internal Use - All Employees</vt:lpwstr>
  </property>
  <property fmtid="{D5CDD505-2E9C-101B-9397-08002B2CF9AE}" pid="6" name="MSIP_Label_ecb69475-382c-4c7a-b21d-8ca64eeef1bd_SiteId">
    <vt:lpwstr>7d1c7785-2d8a-437d-b842-1ed5d8fbe00a</vt:lpwstr>
  </property>
  <property fmtid="{D5CDD505-2E9C-101B-9397-08002B2CF9AE}" pid="7" name="MSIP_Label_ecb69475-382c-4c7a-b21d-8ca64eeef1bd_ActionId">
    <vt:lpwstr>1e4ae7bc-ef8b-447e-9834-48f107acac9d</vt:lpwstr>
  </property>
  <property fmtid="{D5CDD505-2E9C-101B-9397-08002B2CF9AE}" pid="8" name="MSIP_Label_ecb69475-382c-4c7a-b21d-8ca64eeef1bd_ContentBits">
    <vt:lpwstr>0</vt:lpwstr>
  </property>
</Properties>
</file>